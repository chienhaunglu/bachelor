
<file path=[Content_Types].xml><?xml version="1.0" encoding="utf-8"?>
<Types xmlns="http://schemas.openxmlformats.org/package/2006/content-types">
  <Default Extension="png" ContentType="image/png"/>
  <Default Extension="tmp" ContentType="image/png"/>
  <Default Extension="jpeg" ContentType="image/jpeg"/>
  <Default Extension="rels" ContentType="application/vnd.openxmlformats-package.relationships+xml"/>
  <Default Extension="xml" ContentType="application/xml"/>
  <Default Extension="mp4" ContentType="video/mp4"/>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9"/>
  </p:notesMasterIdLst>
  <p:sldIdLst>
    <p:sldId id="256" r:id="rId2"/>
    <p:sldId id="257" r:id="rId3"/>
    <p:sldId id="259" r:id="rId4"/>
    <p:sldId id="258" r:id="rId5"/>
    <p:sldId id="260" r:id="rId6"/>
    <p:sldId id="264" r:id="rId7"/>
    <p:sldId id="284" r:id="rId8"/>
    <p:sldId id="261" r:id="rId9"/>
    <p:sldId id="279" r:id="rId10"/>
    <p:sldId id="286" r:id="rId11"/>
    <p:sldId id="285" r:id="rId12"/>
    <p:sldId id="262" r:id="rId13"/>
    <p:sldId id="280" r:id="rId14"/>
    <p:sldId id="263" r:id="rId15"/>
    <p:sldId id="281" r:id="rId16"/>
    <p:sldId id="287" r:id="rId17"/>
    <p:sldId id="283"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4" d="100"/>
          <a:sy n="84" d="100"/>
        </p:scale>
        <p:origin x="581"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6E867A-0BF3-46AF-B4B5-D2FDD10C7342}" type="datetimeFigureOut">
              <a:rPr lang="zh-TW" altLang="en-US" smtClean="0"/>
              <a:t>2023/5/26</a:t>
            </a:fld>
            <a:endParaRPr lang="zh-TW" altLang="en-US"/>
          </a:p>
        </p:txBody>
      </p:sp>
      <p:sp>
        <p:nvSpPr>
          <p:cNvPr id="4" name="投影片圖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E8089A6-5AD0-4DC8-89E1-C98D041FE41D}" type="slidenum">
              <a:rPr lang="zh-TW" altLang="en-US" smtClean="0"/>
              <a:t>‹#›</a:t>
            </a:fld>
            <a:endParaRPr lang="zh-TW" altLang="en-US"/>
          </a:p>
        </p:txBody>
      </p:sp>
    </p:spTree>
    <p:extLst>
      <p:ext uri="{BB962C8B-B14F-4D97-AF65-F5344CB8AC3E}">
        <p14:creationId xmlns:p14="http://schemas.microsoft.com/office/powerpoint/2010/main" val="40135534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標題投影片">
    <p:bg>
      <p:bgPr>
        <a:solidFill>
          <a:schemeClr val="accent1"/>
        </a:solidFill>
        <a:effectLst/>
      </p:bgPr>
    </p:bg>
    <p:spTree>
      <p:nvGrpSpPr>
        <p:cNvPr id="1" name=""/>
        <p:cNvGrpSpPr/>
        <p:nvPr/>
      </p:nvGrpSpPr>
      <p:grpSpPr>
        <a:xfrm>
          <a:off x="0" y="0"/>
          <a:ext cx="0" cy="0"/>
          <a:chOff x="0" y="0"/>
          <a:chExt cx="0" cy="0"/>
        </a:xfrm>
      </p:grpSpPr>
      <p:sp>
        <p:nvSpPr>
          <p:cNvPr id="11" name="Freeform 6" title="scalloped circle"/>
          <p:cNvSpPr/>
          <p:nvPr/>
        </p:nvSpPr>
        <p:spPr bwMode="auto">
          <a:xfrm>
            <a:off x="3557016" y="63093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sp>
      <p:sp>
        <p:nvSpPr>
          <p:cNvPr id="2" name="Title 1"/>
          <p:cNvSpPr>
            <a:spLocks noGrp="1"/>
          </p:cNvSpPr>
          <p:nvPr>
            <p:ph type="ctrTitle"/>
          </p:nvPr>
        </p:nvSpPr>
        <p:spPr>
          <a:xfrm>
            <a:off x="1078523" y="1098388"/>
            <a:ext cx="10318418" cy="4394988"/>
          </a:xfrm>
        </p:spPr>
        <p:txBody>
          <a:bodyPr anchor="ctr">
            <a:noAutofit/>
          </a:bodyPr>
          <a:lstStyle>
            <a:lvl1pPr algn="ctr">
              <a:defRPr sz="10000" spc="800" baseline="0"/>
            </a:lvl1pPr>
          </a:lstStyle>
          <a:p>
            <a:r>
              <a:rPr lang="zh-TW" altLang="en-US"/>
              <a:t>按一下以編輯母片標題樣式</a:t>
            </a:r>
            <a:endParaRPr lang="en-US" dirty="0"/>
          </a:p>
        </p:txBody>
      </p:sp>
      <p:sp>
        <p:nvSpPr>
          <p:cNvPr id="3" name="Subtitle 2"/>
          <p:cNvSpPr>
            <a:spLocks noGrp="1"/>
          </p:cNvSpPr>
          <p:nvPr>
            <p:ph type="subTitle" idx="1"/>
          </p:nvPr>
        </p:nvSpPr>
        <p:spPr>
          <a:xfrm>
            <a:off x="2215045" y="5979196"/>
            <a:ext cx="8045373" cy="742279"/>
          </a:xfrm>
        </p:spPr>
        <p:txBody>
          <a:bodyPr anchor="t">
            <a:normAutofit/>
          </a:bodyPr>
          <a:lstStyle>
            <a:lvl1pPr marL="0" indent="0" algn="ctr">
              <a:lnSpc>
                <a:spcPct val="100000"/>
              </a:lnSpc>
              <a:buNone/>
              <a:defRPr sz="2000" b="1" i="0" cap="all" spc="4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按一下以編輯母片副標題樣式</a:t>
            </a:r>
            <a:endParaRPr lang="en-US" dirty="0"/>
          </a:p>
        </p:txBody>
      </p:sp>
      <p:sp>
        <p:nvSpPr>
          <p:cNvPr id="4" name="Date Placeholder 3"/>
          <p:cNvSpPr>
            <a:spLocks noGrp="1"/>
          </p:cNvSpPr>
          <p:nvPr>
            <p:ph type="dt" sz="half" idx="10"/>
          </p:nvPr>
        </p:nvSpPr>
        <p:spPr>
          <a:xfrm>
            <a:off x="1078523" y="6375679"/>
            <a:ext cx="2329722" cy="348462"/>
          </a:xfrm>
        </p:spPr>
        <p:txBody>
          <a:bodyPr/>
          <a:lstStyle>
            <a:lvl1pPr>
              <a:defRPr baseline="0">
                <a:solidFill>
                  <a:schemeClr val="accent1">
                    <a:lumMod val="50000"/>
                  </a:schemeClr>
                </a:solidFill>
              </a:defRPr>
            </a:lvl1pPr>
          </a:lstStyle>
          <a:p>
            <a:fld id="{9334D819-9F07-4261-B09B-9E467E5D9002}" type="datetimeFigureOut">
              <a:rPr lang="en-US" dirty="0"/>
              <a:pPr/>
              <a:t>5/26/2023</a:t>
            </a:fld>
            <a:endParaRPr lang="en-US" dirty="0"/>
          </a:p>
        </p:txBody>
      </p:sp>
      <p:sp>
        <p:nvSpPr>
          <p:cNvPr id="5" name="Footer Placeholder 4"/>
          <p:cNvSpPr>
            <a:spLocks noGrp="1"/>
          </p:cNvSpPr>
          <p:nvPr>
            <p:ph type="ftr" sz="quarter" idx="11"/>
          </p:nvPr>
        </p:nvSpPr>
        <p:spPr>
          <a:xfrm>
            <a:off x="4180332" y="6375679"/>
            <a:ext cx="4114800" cy="345796"/>
          </a:xfrm>
        </p:spPr>
        <p:txBody>
          <a:bodyPr/>
          <a:lstStyle>
            <a:lvl1pPr>
              <a:defRPr baseline="0">
                <a:solidFill>
                  <a:schemeClr val="accent1">
                    <a:lumMod val="50000"/>
                  </a:schemeClr>
                </a:solidFill>
              </a:defRPr>
            </a:lvl1pPr>
          </a:lstStyle>
          <a:p>
            <a:endParaRPr lang="en-US" dirty="0"/>
          </a:p>
        </p:txBody>
      </p:sp>
      <p:sp>
        <p:nvSpPr>
          <p:cNvPr id="6" name="Slide Number Placeholder 5"/>
          <p:cNvSpPr>
            <a:spLocks noGrp="1"/>
          </p:cNvSpPr>
          <p:nvPr>
            <p:ph type="sldNum" sz="quarter" idx="12"/>
          </p:nvPr>
        </p:nvSpPr>
        <p:spPr>
          <a:xfrm>
            <a:off x="9067218" y="6375679"/>
            <a:ext cx="2329723" cy="345796"/>
          </a:xfrm>
        </p:spPr>
        <p:txBody>
          <a:bodyPr/>
          <a:lstStyle>
            <a:lvl1pPr>
              <a:defRPr baseline="0">
                <a:solidFill>
                  <a:schemeClr val="accent1">
                    <a:lumMod val="50000"/>
                  </a:schemeClr>
                </a:solidFill>
              </a:defRPr>
            </a:lvl1pPr>
          </a:lstStyle>
          <a:p>
            <a:fld id="{71766878-3199-4EAB-94E7-2D6D11070E14}" type="slidenum">
              <a:rPr lang="en-US" dirty="0"/>
              <a:pPr/>
              <a:t>‹#›</a:t>
            </a:fld>
            <a:endParaRPr lang="en-US" dirty="0"/>
          </a:p>
        </p:txBody>
      </p:sp>
      <p:sp>
        <p:nvSpPr>
          <p:cNvPr id="13" name="Rectangle 12" title="left edge border"/>
          <p:cNvSpPr/>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dirty="0"/>
              <a:t>5/26/2023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章節標題">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242929" y="1073888"/>
            <a:ext cx="8187071" cy="4064627"/>
          </a:xfrm>
        </p:spPr>
        <p:txBody>
          <a:bodyPr anchor="b">
            <a:normAutofit/>
          </a:bodyPr>
          <a:lstStyle>
            <a:lvl1pPr>
              <a:defRPr sz="8400" spc="800" baseline="0">
                <a:solidFill>
                  <a:schemeClr val="tx2"/>
                </a:solidFill>
              </a:defRPr>
            </a:lvl1pPr>
          </a:lstStyle>
          <a:p>
            <a:r>
              <a:rPr lang="zh-TW" altLang="en-US"/>
              <a:t>按一下以編輯母片標題樣式</a:t>
            </a:r>
            <a:endParaRPr lang="en-US" dirty="0"/>
          </a:p>
        </p:txBody>
      </p:sp>
      <p:sp>
        <p:nvSpPr>
          <p:cNvPr id="3" name="Text Placeholder 2"/>
          <p:cNvSpPr>
            <a:spLocks noGrp="1"/>
          </p:cNvSpPr>
          <p:nvPr>
            <p:ph type="body" idx="1"/>
          </p:nvPr>
        </p:nvSpPr>
        <p:spPr>
          <a:xfrm>
            <a:off x="3242930" y="5159781"/>
            <a:ext cx="7017488" cy="951135"/>
          </a:xfrm>
        </p:spPr>
        <p:txBody>
          <a:bodyPr>
            <a:normAutofit/>
          </a:bodyPr>
          <a:lstStyle>
            <a:lvl1pPr marL="0" indent="0">
              <a:lnSpc>
                <a:spcPct val="100000"/>
              </a:lnSpc>
              <a:buNone/>
              <a:defRPr sz="2000" b="1" i="0" cap="all" spc="400" baseline="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Date Placeholder 3"/>
          <p:cNvSpPr>
            <a:spLocks noGrp="1"/>
          </p:cNvSpPr>
          <p:nvPr>
            <p:ph type="dt" sz="half" idx="10"/>
          </p:nvPr>
        </p:nvSpPr>
        <p:spPr>
          <a:xfrm>
            <a:off x="3236546" y="6375679"/>
            <a:ext cx="1493947" cy="348462"/>
          </a:xfrm>
        </p:spPr>
        <p:txBody>
          <a:bodyPr/>
          <a:lstStyle>
            <a:lvl1pPr>
              <a:defRPr baseline="0">
                <a:solidFill>
                  <a:schemeClr val="tx2"/>
                </a:solidFill>
              </a:defRPr>
            </a:lvl1pPr>
          </a:lstStyle>
          <a:p>
            <a:fld id="{9334D819-9F07-4261-B09B-9E467E5D9002}" type="datetimeFigureOut">
              <a:rPr lang="en-US" dirty="0"/>
              <a:pPr/>
              <a:t>5/26/2023</a:t>
            </a:fld>
            <a:endParaRPr lang="en-US" dirty="0"/>
          </a:p>
        </p:txBody>
      </p:sp>
      <p:sp>
        <p:nvSpPr>
          <p:cNvPr id="5" name="Footer Placeholder 4"/>
          <p:cNvSpPr>
            <a:spLocks noGrp="1"/>
          </p:cNvSpPr>
          <p:nvPr>
            <p:ph type="ftr" sz="quarter" idx="11"/>
          </p:nvPr>
        </p:nvSpPr>
        <p:spPr>
          <a:xfrm>
            <a:off x="5279064" y="6375679"/>
            <a:ext cx="4114800" cy="345796"/>
          </a:xfrm>
        </p:spPr>
        <p:txBody>
          <a:bodyPr/>
          <a:lstStyle>
            <a:lvl1pP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942434" y="6375679"/>
            <a:ext cx="1487566" cy="345796"/>
          </a:xfrm>
        </p:spPr>
        <p:txBody>
          <a:bodyPr/>
          <a:lstStyle>
            <a:lvl1pPr>
              <a:defRPr baseline="0">
                <a:solidFill>
                  <a:schemeClr val="tx2"/>
                </a:solidFill>
              </a:defRPr>
            </a:lvl1pPr>
          </a:lstStyle>
          <a:p>
            <a:fld id="{71766878-3199-4EAB-94E7-2D6D11070E14}" type="slidenum">
              <a:rPr lang="en-US" dirty="0"/>
              <a:pPr/>
              <a:t>‹#›</a:t>
            </a:fld>
            <a:endParaRPr lang="en-US" dirty="0"/>
          </a:p>
        </p:txBody>
      </p:sp>
      <p:grpSp>
        <p:nvGrpSpPr>
          <p:cNvPr id="7" name="Group 6" title="left scallop shape"/>
          <p:cNvGrpSpPr/>
          <p:nvPr/>
        </p:nvGrpSpPr>
        <p:grpSpPr>
          <a:xfrm>
            <a:off x="0" y="0"/>
            <a:ext cx="2814638" cy="6858000"/>
            <a:chOff x="0" y="0"/>
            <a:chExt cx="2814638" cy="6858000"/>
          </a:xfrm>
        </p:grpSpPr>
        <p:sp>
          <p:nvSpPr>
            <p:cNvPr id="11" name="Freeform 6" title="left scallop shape"/>
            <p:cNvSpPr/>
            <p:nvPr/>
          </p:nvSpPr>
          <p:spPr bwMode="auto">
            <a:xfrm>
              <a:off x="0" y="0"/>
              <a:ext cx="2814638" cy="6858000"/>
            </a:xfrm>
            <a:custGeom>
              <a:avLst/>
              <a:gdLst/>
              <a:ahLst/>
              <a:cxnLst/>
              <a:rect l="0" t="0" r="r" b="b"/>
              <a:pathLst>
                <a:path w="1773" h="432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tx2"/>
            </a:solidFill>
            <a:ln w="0">
              <a:noFill/>
              <a:prstDash val="solid"/>
              <a:round/>
              <a:headEnd/>
              <a:tailEnd/>
            </a:ln>
          </p:spPr>
        </p:sp>
        <p:sp>
          <p:nvSpPr>
            <p:cNvPr id="16" name="Freeform 11" title="left scallop inline"/>
            <p:cNvSpPr/>
            <p:nvPr/>
          </p:nvSpPr>
          <p:spPr bwMode="auto">
            <a:xfrm>
              <a:off x="874382" y="0"/>
              <a:ext cx="1646238" cy="6858000"/>
            </a:xfrm>
            <a:custGeom>
              <a:avLst/>
              <a:gdLst/>
              <a:ahLst/>
              <a:cxnLst/>
              <a:rect l="0" t="0" r="r" b="b"/>
              <a:pathLst>
                <a:path w="1037" h="432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w="0">
              <a:noFill/>
              <a:prstDash val="solid"/>
              <a:round/>
              <a:headEnd/>
              <a:tailEnd/>
            </a:ln>
          </p:spPr>
        </p:sp>
      </p:gr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1257300" y="2286000"/>
            <a:ext cx="4800600" cy="3619500"/>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6647796" y="2286000"/>
            <a:ext cx="4800600" cy="3619500"/>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9334D819-9F07-4261-B09B-9E467E5D9002}" type="datetimeFigureOut">
              <a:rPr lang="en-US" dirty="0"/>
              <a:t>5/26/2023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1766878-3199-4EAB-94E7-2D6D11070E14}" type="slidenum">
              <a:rPr lang="en-US" dirty="0"/>
              <a:t>‹#›</a:t>
            </a:fld>
            <a:endParaRPr lang="en-US" dirty="0"/>
          </a:p>
        </p:txBody>
      </p:sp>
    </p:spTree>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a:xfrm>
            <a:off x="1252728" y="381000"/>
            <a:ext cx="10172700" cy="1493517"/>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1251678"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Content Placeholder 3"/>
          <p:cNvSpPr>
            <a:spLocks noGrp="1"/>
          </p:cNvSpPr>
          <p:nvPr>
            <p:ph sz="half" idx="2"/>
          </p:nvPr>
        </p:nvSpPr>
        <p:spPr>
          <a:xfrm>
            <a:off x="1257300" y="2909102"/>
            <a:ext cx="4800600" cy="299639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6633864"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Content Placeholder 5"/>
          <p:cNvSpPr>
            <a:spLocks noGrp="1"/>
          </p:cNvSpPr>
          <p:nvPr>
            <p:ph sz="quarter" idx="4"/>
          </p:nvPr>
        </p:nvSpPr>
        <p:spPr>
          <a:xfrm>
            <a:off x="6633864" y="2909102"/>
            <a:ext cx="4800600" cy="299639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9334D819-9F07-4261-B09B-9E467E5D9002}" type="datetimeFigureOut">
              <a:rPr lang="en-US" dirty="0"/>
              <a:t>5/26/2023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1766878-3199-4EAB-94E7-2D6D11070E14}" type="slidenum">
              <a:rPr lang="en-US" dirty="0"/>
              <a:t>‹#›</a:t>
            </a:fld>
            <a:endParaRPr lang="en-US" dirty="0"/>
          </a:p>
        </p:txBody>
      </p:sp>
    </p:spTree>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9334D819-9F07-4261-B09B-9E467E5D9002}" type="datetimeFigureOut">
              <a:rPr lang="en-US" dirty="0"/>
              <a:t>5/26/2023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1766878-3199-4EAB-94E7-2D6D11070E14}"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334D819-9F07-4261-B09B-9E467E5D9002}" type="datetimeFigureOut">
              <a:rPr lang="en-US" dirty="0"/>
              <a:t>5/26/2023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1766878-3199-4EAB-94E7-2D6D11070E14}"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含標題的內容">
    <p:spTree>
      <p:nvGrpSpPr>
        <p:cNvPr id="1" name=""/>
        <p:cNvGrpSpPr/>
        <p:nvPr/>
      </p:nvGrpSpPr>
      <p:grpSpPr>
        <a:xfrm>
          <a:off x="0" y="0"/>
          <a:ext cx="0" cy="0"/>
          <a:chOff x="0" y="0"/>
          <a:chExt cx="0" cy="0"/>
        </a:xfrm>
      </p:grpSpPr>
      <p:sp>
        <p:nvSpPr>
          <p:cNvPr id="17"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2" name="Title 1"/>
          <p:cNvSpPr>
            <a:spLocks noGrp="1"/>
          </p:cNvSpPr>
          <p:nvPr>
            <p:ph type="title"/>
          </p:nvPr>
        </p:nvSpPr>
        <p:spPr>
          <a:xfrm>
            <a:off x="8337884" y="457199"/>
            <a:ext cx="3092115" cy="1196671"/>
          </a:xfrm>
        </p:spPr>
        <p:txBody>
          <a:bodyPr anchor="b">
            <a:normAutofit/>
          </a:bodyPr>
          <a:lstStyle>
            <a:lvl1pPr>
              <a:lnSpc>
                <a:spcPct val="100000"/>
              </a:lnSpc>
              <a:defRPr sz="1900" b="1" i="0" cap="all" spc="300" baseline="0">
                <a:solidFill>
                  <a:schemeClr val="accent1"/>
                </a:solidFill>
                <a:latin typeface="+mn-lt"/>
              </a:defRPr>
            </a:lvl1pPr>
          </a:lstStyle>
          <a:p>
            <a:r>
              <a:rPr lang="zh-TW" altLang="en-US"/>
              <a:t>按一下以編輯母片標題樣式</a:t>
            </a:r>
            <a:endParaRPr lang="en-US" dirty="0"/>
          </a:p>
        </p:txBody>
      </p:sp>
      <p:sp>
        <p:nvSpPr>
          <p:cNvPr id="3" name="Content Placeholder 2"/>
          <p:cNvSpPr>
            <a:spLocks noGrp="1"/>
          </p:cNvSpPr>
          <p:nvPr>
            <p:ph idx="1"/>
          </p:nvPr>
        </p:nvSpPr>
        <p:spPr>
          <a:xfrm>
            <a:off x="765051" y="920377"/>
            <a:ext cx="6158418" cy="498512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8337885" y="1741336"/>
            <a:ext cx="3092115"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a:xfrm>
            <a:off x="765051" y="6375679"/>
            <a:ext cx="1233355" cy="348462"/>
          </a:xfrm>
        </p:spPr>
        <p:txBody>
          <a:bodyPr/>
          <a:lstStyle/>
          <a:p>
            <a:fld id="{9334D819-9F07-4261-B09B-9E467E5D9002}" type="datetimeFigureOut">
              <a:rPr lang="en-US" dirty="0"/>
              <a:t>5/26/2023</a:t>
            </a:fld>
            <a:endParaRPr lang="en-US" dirty="0"/>
          </a:p>
        </p:txBody>
      </p:sp>
      <p:sp>
        <p:nvSpPr>
          <p:cNvPr id="6" name="Footer Placeholder 5"/>
          <p:cNvSpPr>
            <a:spLocks noGrp="1"/>
          </p:cNvSpPr>
          <p:nvPr>
            <p:ph type="ftr" sz="quarter" idx="11"/>
          </p:nvPr>
        </p:nvSpPr>
        <p:spPr>
          <a:xfrm>
            <a:off x="2103620" y="6375679"/>
            <a:ext cx="3482179" cy="345796"/>
          </a:xfrm>
        </p:spPr>
        <p:txBody>
          <a:bodyPr/>
          <a:lstStyle/>
          <a:p>
            <a:endParaRPr lang="en-US" dirty="0"/>
          </a:p>
        </p:txBody>
      </p:sp>
      <p:sp>
        <p:nvSpPr>
          <p:cNvPr id="7" name="Slide Number Placeholder 6"/>
          <p:cNvSpPr>
            <a:spLocks noGrp="1"/>
          </p:cNvSpPr>
          <p:nvPr>
            <p:ph type="sldNum" sz="quarter" idx="12"/>
          </p:nvPr>
        </p:nvSpPr>
        <p:spPr>
          <a:xfrm>
            <a:off x="5691014" y="6375679"/>
            <a:ext cx="1232456" cy="345796"/>
          </a:xfrm>
        </p:spPr>
        <p:txBody>
          <a:bodyPr/>
          <a:lstStyle/>
          <a:p>
            <a:fld id="{71766878-3199-4EAB-94E7-2D6D11070E14}" type="slidenum">
              <a:rPr lang="en-US" dirty="0"/>
              <a:t>‹#›</a:t>
            </a:fld>
            <a:endParaRPr lang="en-US" dirty="0"/>
          </a:p>
        </p:txBody>
      </p:sp>
      <p:sp>
        <p:nvSpPr>
          <p:cNvPr id="8" name="Rectangle 7"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extLst>
    <p:ext uri="{DCECCB84-F9BA-43D5-87BE-67443E8EF086}">
      <p15:sldGuideLst xmlns:p15="http://schemas.microsoft.com/office/powerpoint/2012/main">
        <p15:guide id="1" orient="horz" pos="6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含標題的圖片">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283464" y="0"/>
            <a:ext cx="7355585"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11"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12" name="Rectangle 11"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7883" y="457200"/>
            <a:ext cx="3092117" cy="1196670"/>
          </a:xfrm>
        </p:spPr>
        <p:txBody>
          <a:bodyPr anchor="b">
            <a:normAutofit/>
          </a:bodyPr>
          <a:lstStyle>
            <a:lvl1pPr>
              <a:lnSpc>
                <a:spcPct val="100000"/>
              </a:lnSpc>
              <a:defRPr sz="1900" b="1" i="0" spc="300" baseline="0">
                <a:solidFill>
                  <a:schemeClr val="accent1"/>
                </a:solidFill>
                <a:latin typeface="+mn-lt"/>
              </a:defRPr>
            </a:lvl1pPr>
          </a:lstStyle>
          <a:p>
            <a:r>
              <a:rPr lang="zh-TW" altLang="en-US"/>
              <a:t>按一下以編輯母片標題樣式</a:t>
            </a:r>
            <a:endParaRPr lang="en-US" dirty="0"/>
          </a:p>
        </p:txBody>
      </p:sp>
      <p:sp>
        <p:nvSpPr>
          <p:cNvPr id="4" name="Text Placeholder 3"/>
          <p:cNvSpPr>
            <a:spLocks noGrp="1"/>
          </p:cNvSpPr>
          <p:nvPr>
            <p:ph type="body" sz="half" idx="2"/>
          </p:nvPr>
        </p:nvSpPr>
        <p:spPr>
          <a:xfrm>
            <a:off x="8337883" y="1741336"/>
            <a:ext cx="3092117"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a:xfrm>
            <a:off x="765950" y="6375679"/>
            <a:ext cx="1232456" cy="348462"/>
          </a:xfrm>
        </p:spPr>
        <p:txBody>
          <a:bodyPr/>
          <a:lstStyle/>
          <a:p>
            <a:fld id="{9334D819-9F07-4261-B09B-9E467E5D9002}" type="datetimeFigureOut">
              <a:rPr lang="en-US" dirty="0"/>
              <a:t>5/26/2023</a:t>
            </a:fld>
            <a:endParaRPr lang="en-US" dirty="0"/>
          </a:p>
        </p:txBody>
      </p:sp>
      <p:sp>
        <p:nvSpPr>
          <p:cNvPr id="6" name="Footer Placeholder 5"/>
          <p:cNvSpPr>
            <a:spLocks noGrp="1"/>
          </p:cNvSpPr>
          <p:nvPr>
            <p:ph type="ftr" sz="quarter" idx="11"/>
          </p:nvPr>
        </p:nvSpPr>
        <p:spPr>
          <a:xfrm>
            <a:off x="2103621" y="6375679"/>
            <a:ext cx="3482178" cy="345796"/>
          </a:xfrm>
        </p:spPr>
        <p:txBody>
          <a:bodyPr/>
          <a:lstStyle/>
          <a:p>
            <a:endParaRPr lang="en-US" dirty="0"/>
          </a:p>
        </p:txBody>
      </p:sp>
      <p:sp>
        <p:nvSpPr>
          <p:cNvPr id="7" name="Slide Number Placeholder 6"/>
          <p:cNvSpPr>
            <a:spLocks noGrp="1"/>
          </p:cNvSpPr>
          <p:nvPr>
            <p:ph type="sldNum" sz="quarter" idx="12"/>
          </p:nvPr>
        </p:nvSpPr>
        <p:spPr>
          <a:xfrm>
            <a:off x="5687568" y="6375679"/>
            <a:ext cx="1234440" cy="345796"/>
          </a:xfrm>
        </p:spPr>
        <p:txBody>
          <a:bodyPr/>
          <a:lstStyle/>
          <a:p>
            <a:fld id="{71766878-3199-4EAB-94E7-2D6D11070E14}"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dirty="0"/>
              <a:t>5/26/2023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066321" y="382386"/>
            <a:ext cx="1492132" cy="5600404"/>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1257300" y="382385"/>
            <a:ext cx="8392585" cy="5600405"/>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dirty="0"/>
              <a:t>5/26/2023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1678" y="382385"/>
            <a:ext cx="10178322" cy="1492132"/>
          </a:xfrm>
          <a:prstGeom prst="rect">
            <a:avLst/>
          </a:prstGeom>
        </p:spPr>
        <p:txBody>
          <a:bodyPr vert="horz" lIns="91440" tIns="45720" rIns="91440" bIns="45720" rtlCol="0" anchor="t">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1251678" y="2286001"/>
            <a:ext cx="10178322" cy="3593591"/>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1251678" y="6375679"/>
            <a:ext cx="2329722" cy="348462"/>
          </a:xfrm>
          <a:prstGeom prst="rect">
            <a:avLst/>
          </a:prstGeom>
        </p:spPr>
        <p:txBody>
          <a:bodyPr vert="horz" lIns="91440" tIns="45720" rIns="91440" bIns="45720" rtlCol="0" anchor="ctr"/>
          <a:lstStyle>
            <a:lvl1pPr algn="l">
              <a:defRPr sz="1200">
                <a:solidFill>
                  <a:schemeClr val="tx1">
                    <a:lumMod val="65000"/>
                    <a:lumOff val="35000"/>
                  </a:schemeClr>
                </a:solidFill>
              </a:defRPr>
            </a:lvl1pPr>
          </a:lstStyle>
          <a:p>
            <a:fld id="{9334D819-9F07-4261-B09B-9E467E5D9002}" type="datetimeFigureOut">
              <a:rPr lang="en-US" dirty="0"/>
              <a:pPr/>
              <a:t>5/26/2023</a:t>
            </a:fld>
            <a:endParaRPr lang="en-US" dirty="0"/>
          </a:p>
        </p:txBody>
      </p:sp>
      <p:sp>
        <p:nvSpPr>
          <p:cNvPr id="5" name="Footer Placeholder 4"/>
          <p:cNvSpPr>
            <a:spLocks noGrp="1"/>
          </p:cNvSpPr>
          <p:nvPr>
            <p:ph type="ftr" sz="quarter" idx="3"/>
          </p:nvPr>
        </p:nvSpPr>
        <p:spPr>
          <a:xfrm>
            <a:off x="4038600" y="6375679"/>
            <a:ext cx="4114800" cy="345796"/>
          </a:xfrm>
          <a:prstGeom prst="rect">
            <a:avLst/>
          </a:prstGeom>
        </p:spPr>
        <p:txBody>
          <a:bodyPr vert="horz" lIns="91440" tIns="45720" rIns="91440" bIns="45720" rtlCol="0" anchor="ctr"/>
          <a:lstStyle>
            <a:lvl1pPr algn="ctr">
              <a:defRPr sz="1200">
                <a:solidFill>
                  <a:schemeClr val="tx1">
                    <a:lumMod val="65000"/>
                    <a:lumOff val="35000"/>
                  </a:schemeClr>
                </a:solidFill>
              </a:defRPr>
            </a:lvl1pPr>
          </a:lstStyle>
          <a:p>
            <a:endParaRPr lang="en-US" dirty="0"/>
          </a:p>
        </p:txBody>
      </p:sp>
      <p:sp>
        <p:nvSpPr>
          <p:cNvPr id="6" name="Slide Number Placeholder 5"/>
          <p:cNvSpPr>
            <a:spLocks noGrp="1"/>
          </p:cNvSpPr>
          <p:nvPr>
            <p:ph type="sldNum" sz="quarter" idx="4"/>
          </p:nvPr>
        </p:nvSpPr>
        <p:spPr>
          <a:xfrm>
            <a:off x="8610601" y="6375679"/>
            <a:ext cx="2819399" cy="345796"/>
          </a:xfrm>
          <a:prstGeom prst="rect">
            <a:avLst/>
          </a:prstGeom>
        </p:spPr>
        <p:txBody>
          <a:bodyPr vert="horz" lIns="91440" tIns="45720" rIns="91440" bIns="45720" rtlCol="0" anchor="ctr"/>
          <a:lstStyle>
            <a:lvl1pPr algn="r">
              <a:defRPr sz="1200">
                <a:solidFill>
                  <a:schemeClr val="tx1">
                    <a:lumMod val="65000"/>
                    <a:lumOff val="35000"/>
                  </a:schemeClr>
                </a:solidFill>
              </a:defRPr>
            </a:lvl1pPr>
          </a:lstStyle>
          <a:p>
            <a:fld id="{71766878-3199-4EAB-94E7-2D6D11070E14}" type="slidenum">
              <a:rPr lang="en-US" dirty="0"/>
              <a:pPr/>
              <a:t>‹#›</a:t>
            </a:fld>
            <a:endParaRPr lang="en-US" dirty="0"/>
          </a:p>
        </p:txBody>
      </p:sp>
      <p:sp>
        <p:nvSpPr>
          <p:cNvPr id="11" name="Freeform 6" title="Left scallop edge"/>
          <p:cNvSpPr/>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sp>
      <p:sp>
        <p:nvSpPr>
          <p:cNvPr id="12" name="Rectangle 11" title="right edge border"/>
          <p:cNvSpPr/>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92">
          <p15:clr>
            <a:srgbClr val="F26B43"/>
          </p15:clr>
        </p15:guide>
        <p15:guide id="2" pos="7200">
          <p15:clr>
            <a:srgbClr val="F26B43"/>
          </p15:clr>
        </p15:guide>
        <p15:guide id="3" orient="horz" pos="4008">
          <p15:clr>
            <a:srgbClr val="F26B43"/>
          </p15:clr>
        </p15:guide>
        <p15:guide id="4" orient="horz" pos="1440">
          <p15:clr>
            <a:srgbClr val="F26B43"/>
          </p15:clr>
        </p15:guide>
        <p15:guide id="5" orient="horz" pos="3720">
          <p15:clr>
            <a:srgbClr val="F26B43"/>
          </p15:clr>
        </p15:guide>
        <p15:guide id="6" orient="horz" pos="2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3.tmp"/><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hyperlink" Target="https://applealmond.com/posts/5171" TargetMode="External"/><Relationship Id="rId3" Type="http://schemas.openxmlformats.org/officeDocument/2006/relationships/hyperlink" Target="https://infosecwriteups.com/how-to-make-a-ransomware-with-python-c4764f2014cf" TargetMode="External"/><Relationship Id="rId7" Type="http://schemas.openxmlformats.org/officeDocument/2006/relationships/hyperlink" Target="https://github.com/febimudiyanto/python-project/tree/main/simple-ransomware" TargetMode="External"/><Relationship Id="rId2" Type="http://schemas.openxmlformats.org/officeDocument/2006/relationships/hyperlink" Target="https://ithelp.ithome.com.tw/m/articles/10254342" TargetMode="External"/><Relationship Id="rId1" Type="http://schemas.openxmlformats.org/officeDocument/2006/relationships/slideLayout" Target="../slideLayouts/slideLayout2.xml"/><Relationship Id="rId6" Type="http://schemas.openxmlformats.org/officeDocument/2006/relationships/hyperlink" Target="https://www.cc.ntu.edu.tw/chinese/epaper/0038/20160920_3807.html" TargetMode="External"/><Relationship Id="rId11" Type="http://schemas.openxmlformats.org/officeDocument/2006/relationships/hyperlink" Target="https://ess.site.nthu.edu.tw/p/404-1351-118887.php?Lang=zh-tw" TargetMode="External"/><Relationship Id="rId5" Type="http://schemas.openxmlformats.org/officeDocument/2006/relationships/hyperlink" Target="https://www.trendmicro.com/zh_tw/what-is/ransomware.html" TargetMode="External"/><Relationship Id="rId10" Type="http://schemas.openxmlformats.org/officeDocument/2006/relationships/hyperlink" Target="https://zonetech.tw/blogs/what-is-ransomware/" TargetMode="External"/><Relationship Id="rId4" Type="http://schemas.openxmlformats.org/officeDocument/2006/relationships/hyperlink" Target="https://www.youtube.com/watch?v=YcEotl3Jo_g" TargetMode="External"/><Relationship Id="rId9" Type="http://schemas.openxmlformats.org/officeDocument/2006/relationships/hyperlink" Target="https://ithelp.ithome.com.tw/articles/10311598"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990000"/>
        </a:solidFill>
        <a:effectLst/>
      </p:bgPr>
    </p:bg>
    <p:spTree>
      <p:nvGrpSpPr>
        <p:cNvPr id="1" name=""/>
        <p:cNvGrpSpPr/>
        <p:nvPr/>
      </p:nvGrpSpPr>
      <p:grpSpPr>
        <a:xfrm>
          <a:off x="0" y="0"/>
          <a:ext cx="0" cy="0"/>
          <a:chOff x="0" y="0"/>
          <a:chExt cx="0" cy="0"/>
        </a:xfrm>
      </p:grpSpPr>
      <p:sp>
        <p:nvSpPr>
          <p:cNvPr id="2" name="標題 1"/>
          <p:cNvSpPr>
            <a:spLocks noGrp="1"/>
          </p:cNvSpPr>
          <p:nvPr>
            <p:ph type="ctrTitle"/>
          </p:nvPr>
        </p:nvSpPr>
        <p:spPr/>
        <p:txBody>
          <a:bodyPr/>
          <a:lstStyle/>
          <a:p>
            <a:r>
              <a:rPr lang="zh-TW" altLang="en-US" sz="9000" b="1" dirty="0" smtClean="0">
                <a:latin typeface="+mn-ea"/>
                <a:ea typeface="+mn-ea"/>
              </a:rPr>
              <a:t>簡易實作</a:t>
            </a:r>
            <a:r>
              <a:rPr lang="en-US" altLang="zh-TW" sz="9000" b="1" dirty="0" smtClean="0">
                <a:latin typeface="+mn-ea"/>
                <a:ea typeface="+mn-ea"/>
              </a:rPr>
              <a:t/>
            </a:r>
            <a:br>
              <a:rPr lang="en-US" altLang="zh-TW" sz="9000" b="1" dirty="0" smtClean="0">
                <a:latin typeface="+mn-ea"/>
                <a:ea typeface="+mn-ea"/>
              </a:rPr>
            </a:br>
            <a:r>
              <a:rPr lang="zh-TW" altLang="en-US" sz="9000" b="1" dirty="0" smtClean="0">
                <a:latin typeface="+mn-ea"/>
                <a:ea typeface="+mn-ea"/>
              </a:rPr>
              <a:t>勒索</a:t>
            </a:r>
            <a:r>
              <a:rPr lang="zh-TW" altLang="en-US" sz="9000" b="1" dirty="0">
                <a:latin typeface="+mn-ea"/>
                <a:ea typeface="+mn-ea"/>
              </a:rPr>
              <a:t>病毒</a:t>
            </a:r>
            <a:endParaRPr lang="zh-TW" altLang="en-US" sz="9000" dirty="0">
              <a:latin typeface="+mn-ea"/>
              <a:ea typeface="+mn-ea"/>
            </a:endParaRPr>
          </a:p>
        </p:txBody>
      </p:sp>
      <p:sp>
        <p:nvSpPr>
          <p:cNvPr id="3" name="副標題 2"/>
          <p:cNvSpPr>
            <a:spLocks noGrp="1"/>
          </p:cNvSpPr>
          <p:nvPr>
            <p:ph type="subTitle" idx="1"/>
          </p:nvPr>
        </p:nvSpPr>
        <p:spPr>
          <a:xfrm>
            <a:off x="2215045" y="5819704"/>
            <a:ext cx="8045373" cy="782900"/>
          </a:xfrm>
        </p:spPr>
        <p:txBody>
          <a:bodyPr>
            <a:noAutofit/>
          </a:bodyPr>
          <a:lstStyle/>
          <a:p>
            <a:r>
              <a:rPr lang="zh-TW" altLang="en-US" sz="1600" dirty="0">
                <a:solidFill>
                  <a:schemeClr val="bg1"/>
                </a:solidFill>
                <a:latin typeface="+mn-ea"/>
              </a:rPr>
              <a:t>資工四 </a:t>
            </a:r>
            <a:r>
              <a:rPr lang="en-US" altLang="zh-TW" sz="1600" dirty="0">
                <a:solidFill>
                  <a:schemeClr val="bg1"/>
                </a:solidFill>
                <a:latin typeface="+mn-ea"/>
              </a:rPr>
              <a:t>S10859050</a:t>
            </a:r>
            <a:r>
              <a:rPr lang="zh-TW" altLang="en-US" sz="1600" dirty="0">
                <a:solidFill>
                  <a:schemeClr val="bg1"/>
                </a:solidFill>
                <a:latin typeface="+mn-ea"/>
              </a:rPr>
              <a:t> 郭宇倫</a:t>
            </a:r>
            <a:endParaRPr lang="en-US" altLang="zh-TW" sz="1600" dirty="0">
              <a:solidFill>
                <a:schemeClr val="bg1"/>
              </a:solidFill>
              <a:latin typeface="+mn-ea"/>
            </a:endParaRPr>
          </a:p>
          <a:p>
            <a:r>
              <a:rPr lang="zh-TW" altLang="en-US" sz="1600" dirty="0">
                <a:solidFill>
                  <a:schemeClr val="bg1"/>
                </a:solidFill>
                <a:latin typeface="+mn-ea"/>
              </a:rPr>
              <a:t>資工四 </a:t>
            </a:r>
            <a:r>
              <a:rPr lang="en-US" altLang="zh-TW" sz="1600" dirty="0">
                <a:solidFill>
                  <a:schemeClr val="bg1"/>
                </a:solidFill>
                <a:latin typeface="+mn-ea"/>
              </a:rPr>
              <a:t>S10859045</a:t>
            </a:r>
            <a:r>
              <a:rPr lang="zh-TW" altLang="en-US" sz="1600" dirty="0">
                <a:solidFill>
                  <a:schemeClr val="bg1"/>
                </a:solidFill>
                <a:latin typeface="+mn-ea"/>
              </a:rPr>
              <a:t> 呂建篁</a:t>
            </a:r>
            <a:endParaRPr lang="en-US" altLang="zh-TW" sz="1600" dirty="0">
              <a:solidFill>
                <a:schemeClr val="bg1"/>
              </a:solidFill>
              <a:latin typeface="+mn-ea"/>
            </a:endParaRPr>
          </a:p>
          <a:p>
            <a:r>
              <a:rPr lang="zh-TW" altLang="en-US" sz="1600" dirty="0">
                <a:solidFill>
                  <a:schemeClr val="bg1"/>
                </a:solidFill>
                <a:latin typeface="+mn-ea"/>
              </a:rPr>
              <a:t>資工四 </a:t>
            </a:r>
            <a:r>
              <a:rPr lang="en-US" altLang="zh-TW" sz="1600" dirty="0">
                <a:solidFill>
                  <a:schemeClr val="bg1"/>
                </a:solidFill>
                <a:latin typeface="+mn-ea"/>
              </a:rPr>
              <a:t>S10859048</a:t>
            </a:r>
            <a:r>
              <a:rPr lang="zh-TW" altLang="en-US" sz="1600" dirty="0">
                <a:solidFill>
                  <a:schemeClr val="bg1"/>
                </a:solidFill>
                <a:latin typeface="+mn-ea"/>
              </a:rPr>
              <a:t> 陳睦善</a:t>
            </a:r>
          </a:p>
        </p:txBody>
      </p:sp>
    </p:spTree>
    <p:extLst>
      <p:ext uri="{BB962C8B-B14F-4D97-AF65-F5344CB8AC3E}">
        <p14:creationId xmlns:p14="http://schemas.microsoft.com/office/powerpoint/2010/main" val="156665926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b="1" dirty="0">
                <a:latin typeface="+mn-ea"/>
                <a:ea typeface="+mn-ea"/>
              </a:rPr>
              <a:t>目錄</a:t>
            </a:r>
          </a:p>
        </p:txBody>
      </p:sp>
      <p:sp>
        <p:nvSpPr>
          <p:cNvPr id="3" name="內容版面配置區 2"/>
          <p:cNvSpPr>
            <a:spLocks noGrp="1"/>
          </p:cNvSpPr>
          <p:nvPr>
            <p:ph idx="1"/>
          </p:nvPr>
        </p:nvSpPr>
        <p:spPr>
          <a:xfrm>
            <a:off x="1251678" y="1412574"/>
            <a:ext cx="9556812" cy="5126853"/>
          </a:xfrm>
        </p:spPr>
        <p:txBody>
          <a:bodyPr>
            <a:noAutofit/>
          </a:bodyPr>
          <a:lstStyle/>
          <a:p>
            <a:pPr marL="742950" indent="-742950">
              <a:buFont typeface="+mj-lt"/>
              <a:buAutoNum type="arabicPeriod"/>
            </a:pPr>
            <a:r>
              <a:rPr lang="zh-TW" altLang="en-US" sz="4400" b="1" dirty="0">
                <a:solidFill>
                  <a:schemeClr val="tx1"/>
                </a:solidFill>
                <a:latin typeface="+mn-ea"/>
              </a:rPr>
              <a:t>介紹</a:t>
            </a:r>
            <a:endParaRPr lang="en-US" altLang="zh-TW" sz="4400" b="1" dirty="0">
              <a:solidFill>
                <a:schemeClr val="tx1"/>
              </a:solidFill>
              <a:latin typeface="+mn-ea"/>
            </a:endParaRPr>
          </a:p>
          <a:p>
            <a:pPr marL="742950" indent="-742950">
              <a:buFont typeface="+mj-lt"/>
              <a:buAutoNum type="arabicPeriod"/>
            </a:pPr>
            <a:r>
              <a:rPr lang="zh-TW" altLang="en-US" sz="4400" b="1" dirty="0" smtClean="0">
                <a:solidFill>
                  <a:schemeClr val="tx1"/>
                </a:solidFill>
                <a:latin typeface="+mn-ea"/>
              </a:rPr>
              <a:t>虛擬環境</a:t>
            </a:r>
            <a:endParaRPr lang="en-US" altLang="zh-TW" sz="4400" b="1" dirty="0">
              <a:solidFill>
                <a:schemeClr val="tx1"/>
              </a:solidFill>
              <a:latin typeface="+mn-ea"/>
            </a:endParaRPr>
          </a:p>
          <a:p>
            <a:pPr marL="742950" indent="-742950">
              <a:buFont typeface="+mj-lt"/>
              <a:buAutoNum type="arabicPeriod"/>
            </a:pPr>
            <a:r>
              <a:rPr lang="zh-TW" altLang="en-US" sz="4400" b="1" dirty="0" smtClean="0">
                <a:solidFill>
                  <a:schemeClr val="tx1"/>
                </a:solidFill>
                <a:latin typeface="+mn-ea"/>
              </a:rPr>
              <a:t>實作探討</a:t>
            </a:r>
            <a:endParaRPr lang="en-US" altLang="zh-TW" sz="4400" b="1" dirty="0" smtClean="0">
              <a:solidFill>
                <a:schemeClr val="tx1"/>
              </a:solidFill>
              <a:latin typeface="+mn-ea"/>
            </a:endParaRPr>
          </a:p>
          <a:p>
            <a:pPr marL="742950" indent="-742950">
              <a:buFont typeface="+mj-lt"/>
              <a:buAutoNum type="arabicPeriod"/>
            </a:pPr>
            <a:r>
              <a:rPr lang="en-US" altLang="zh-TW" sz="4400" b="1" dirty="0" smtClean="0">
                <a:solidFill>
                  <a:schemeClr val="tx1"/>
                </a:solidFill>
                <a:latin typeface="+mn-ea"/>
              </a:rPr>
              <a:t>Demo</a:t>
            </a:r>
          </a:p>
          <a:p>
            <a:pPr marL="742950" indent="-742950">
              <a:buFont typeface="+mj-lt"/>
              <a:buAutoNum type="arabicPeriod"/>
            </a:pPr>
            <a:r>
              <a:rPr lang="zh-TW" altLang="en-US" sz="4400" b="1" dirty="0">
                <a:solidFill>
                  <a:schemeClr val="tx1"/>
                </a:solidFill>
                <a:latin typeface="+mn-ea"/>
              </a:rPr>
              <a:t>結論</a:t>
            </a:r>
          </a:p>
        </p:txBody>
      </p:sp>
      <p:pic>
        <p:nvPicPr>
          <p:cNvPr id="6" name="圖片 5"/>
          <p:cNvPicPr>
            <a:picLocks noChangeAspect="1"/>
          </p:cNvPicPr>
          <p:nvPr/>
        </p:nvPicPr>
        <p:blipFill rotWithShape="1">
          <a:blip r:embed="rId2"/>
          <a:srcRect r="29084"/>
          <a:stretch/>
        </p:blipFill>
        <p:spPr>
          <a:xfrm>
            <a:off x="4910832" y="0"/>
            <a:ext cx="7281168" cy="6858000"/>
          </a:xfrm>
          <a:prstGeom prst="rect">
            <a:avLst/>
          </a:prstGeom>
        </p:spPr>
      </p:pic>
    </p:spTree>
    <p:extLst>
      <p:ext uri="{BB962C8B-B14F-4D97-AF65-F5344CB8AC3E}">
        <p14:creationId xmlns:p14="http://schemas.microsoft.com/office/powerpoint/2010/main" val="254886018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990000"/>
        </a:solidFill>
        <a:effectLst/>
      </p:bgPr>
    </p:bg>
    <p:spTree>
      <p:nvGrpSpPr>
        <p:cNvPr id="1" name=""/>
        <p:cNvGrpSpPr/>
        <p:nvPr/>
      </p:nvGrpSpPr>
      <p:grpSpPr>
        <a:xfrm>
          <a:off x="0" y="0"/>
          <a:ext cx="0" cy="0"/>
          <a:chOff x="0" y="0"/>
          <a:chExt cx="0" cy="0"/>
        </a:xfrm>
      </p:grpSpPr>
      <p:sp>
        <p:nvSpPr>
          <p:cNvPr id="2" name="標題 1"/>
          <p:cNvSpPr>
            <a:spLocks noGrp="1"/>
          </p:cNvSpPr>
          <p:nvPr>
            <p:ph type="ctrTitle"/>
          </p:nvPr>
        </p:nvSpPr>
        <p:spPr/>
        <p:txBody>
          <a:bodyPr/>
          <a:lstStyle/>
          <a:p>
            <a:r>
              <a:rPr lang="zh-TW" altLang="en-US" sz="9000" b="1" dirty="0">
                <a:latin typeface="+mn-ea"/>
                <a:ea typeface="+mn-ea"/>
              </a:rPr>
              <a:t>介紹</a:t>
            </a:r>
            <a:endParaRPr lang="en-US" altLang="zh-TW" sz="9000" b="1" dirty="0">
              <a:latin typeface="+mn-ea"/>
              <a:ea typeface="+mn-ea"/>
            </a:endParaRPr>
          </a:p>
        </p:txBody>
      </p:sp>
    </p:spTree>
    <p:extLst>
      <p:ext uri="{BB962C8B-B14F-4D97-AF65-F5344CB8AC3E}">
        <p14:creationId xmlns:p14="http://schemas.microsoft.com/office/powerpoint/2010/main" val="229482739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b="1" dirty="0">
                <a:latin typeface="+mn-ea"/>
                <a:ea typeface="+mn-ea"/>
              </a:rPr>
              <a:t>何謂勒索病毒？</a:t>
            </a:r>
            <a:r>
              <a:rPr lang="zh-TW" altLang="en-US" b="1" dirty="0"/>
              <a:t/>
            </a:r>
            <a:br>
              <a:rPr lang="zh-TW" altLang="en-US" b="1" dirty="0"/>
            </a:br>
            <a:endParaRPr lang="zh-TW" altLang="en-US" dirty="0"/>
          </a:p>
        </p:txBody>
      </p:sp>
      <p:sp>
        <p:nvSpPr>
          <p:cNvPr id="3" name="內容版面配置區 2"/>
          <p:cNvSpPr>
            <a:spLocks noGrp="1"/>
          </p:cNvSpPr>
          <p:nvPr>
            <p:ph idx="1"/>
          </p:nvPr>
        </p:nvSpPr>
        <p:spPr>
          <a:xfrm>
            <a:off x="1251678" y="2286001"/>
            <a:ext cx="3426854" cy="4571999"/>
          </a:xfrm>
        </p:spPr>
        <p:txBody>
          <a:bodyPr>
            <a:normAutofit/>
          </a:bodyPr>
          <a:lstStyle/>
          <a:p>
            <a:pPr marL="0" indent="0">
              <a:buNone/>
            </a:pPr>
            <a:r>
              <a:rPr lang="zh-TW" altLang="en-US" b="1" dirty="0">
                <a:solidFill>
                  <a:schemeClr val="tx1"/>
                </a:solidFill>
                <a:latin typeface="+mn-ea"/>
              </a:rPr>
              <a:t>勒索病毒是一種惡意程式，專門將本機與網路儲存上的重要檔案加密之後要求支付贖金才能解開檔案。</a:t>
            </a:r>
            <a:r>
              <a:rPr lang="zh-TW" altLang="en-US" dirty="0">
                <a:solidFill>
                  <a:schemeClr val="tx1"/>
                </a:solidFill>
                <a:latin typeface="+mn-ea"/>
              </a:rPr>
              <a:t>駭客開發這類惡意程式的目的是為了經由數位</a:t>
            </a:r>
            <a:r>
              <a:rPr lang="zh-TW" altLang="en-US" dirty="0" smtClean="0">
                <a:solidFill>
                  <a:schemeClr val="tx1"/>
                </a:solidFill>
                <a:latin typeface="+mn-ea"/>
              </a:rPr>
              <a:t>勒索來牟利</a:t>
            </a:r>
            <a:r>
              <a:rPr lang="zh-TW" altLang="en-US" dirty="0">
                <a:solidFill>
                  <a:schemeClr val="tx1"/>
                </a:solidFill>
                <a:latin typeface="+mn-ea"/>
              </a:rPr>
              <a:t>。</a:t>
            </a:r>
          </a:p>
          <a:p>
            <a:endParaRPr lang="zh-TW" altLang="en-US" dirty="0">
              <a:latin typeface="+mn-ea"/>
            </a:endParaRPr>
          </a:p>
        </p:txBody>
      </p:sp>
      <p:pic>
        <p:nvPicPr>
          <p:cNvPr id="4" name="圖片 3"/>
          <p:cNvPicPr>
            <a:picLocks noChangeAspect="1"/>
          </p:cNvPicPr>
          <p:nvPr/>
        </p:nvPicPr>
        <p:blipFill>
          <a:blip r:embed="rId2"/>
          <a:stretch>
            <a:fillRect/>
          </a:stretch>
        </p:blipFill>
        <p:spPr>
          <a:xfrm>
            <a:off x="5362399" y="1357561"/>
            <a:ext cx="6424217" cy="4869602"/>
          </a:xfrm>
          <a:prstGeom prst="rect">
            <a:avLst/>
          </a:prstGeom>
          <a:effectLst>
            <a:reflection blurRad="6350" stA="52000" endA="300" endPos="35000" dir="5400000" sy="-100000" algn="bl" rotWithShape="0"/>
          </a:effectLst>
        </p:spPr>
      </p:pic>
    </p:spTree>
    <p:extLst>
      <p:ext uri="{BB962C8B-B14F-4D97-AF65-F5344CB8AC3E}">
        <p14:creationId xmlns:p14="http://schemas.microsoft.com/office/powerpoint/2010/main" val="109211452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990000"/>
        </a:solidFill>
        <a:effectLst/>
      </p:bgPr>
    </p:bg>
    <p:spTree>
      <p:nvGrpSpPr>
        <p:cNvPr id="1" name=""/>
        <p:cNvGrpSpPr/>
        <p:nvPr/>
      </p:nvGrpSpPr>
      <p:grpSpPr>
        <a:xfrm>
          <a:off x="0" y="0"/>
          <a:ext cx="0" cy="0"/>
          <a:chOff x="0" y="0"/>
          <a:chExt cx="0" cy="0"/>
        </a:xfrm>
      </p:grpSpPr>
      <p:sp>
        <p:nvSpPr>
          <p:cNvPr id="2" name="標題 1"/>
          <p:cNvSpPr>
            <a:spLocks noGrp="1"/>
          </p:cNvSpPr>
          <p:nvPr>
            <p:ph type="ctrTitle"/>
          </p:nvPr>
        </p:nvSpPr>
        <p:spPr/>
        <p:txBody>
          <a:bodyPr/>
          <a:lstStyle/>
          <a:p>
            <a:r>
              <a:rPr lang="zh-TW" altLang="en-US" sz="9000" b="1" dirty="0" smtClean="0">
                <a:latin typeface="+mn-ea"/>
                <a:ea typeface="+mn-ea"/>
              </a:rPr>
              <a:t>虛擬</a:t>
            </a:r>
            <a:r>
              <a:rPr lang="en-US" altLang="zh-TW" sz="9000" b="1" dirty="0" smtClean="0">
                <a:latin typeface="+mn-ea"/>
                <a:ea typeface="+mn-ea"/>
              </a:rPr>
              <a:t/>
            </a:r>
            <a:br>
              <a:rPr lang="en-US" altLang="zh-TW" sz="9000" b="1" dirty="0" smtClean="0">
                <a:latin typeface="+mn-ea"/>
                <a:ea typeface="+mn-ea"/>
              </a:rPr>
            </a:br>
            <a:r>
              <a:rPr lang="zh-TW" altLang="en-US" sz="9000" b="1" dirty="0" smtClean="0">
                <a:latin typeface="+mn-ea"/>
                <a:ea typeface="+mn-ea"/>
              </a:rPr>
              <a:t>環境</a:t>
            </a:r>
            <a:endParaRPr lang="en-US" altLang="zh-TW" sz="9000" b="1" dirty="0">
              <a:latin typeface="+mn-ea"/>
              <a:ea typeface="+mn-ea"/>
            </a:endParaRPr>
          </a:p>
        </p:txBody>
      </p:sp>
    </p:spTree>
    <p:extLst>
      <p:ext uri="{BB962C8B-B14F-4D97-AF65-F5344CB8AC3E}">
        <p14:creationId xmlns:p14="http://schemas.microsoft.com/office/powerpoint/2010/main" val="179721960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b="1" dirty="0" smtClean="0">
                <a:latin typeface="+mn-ea"/>
                <a:ea typeface="+mn-ea"/>
              </a:rPr>
              <a:t>虛擬機環境</a:t>
            </a:r>
            <a:endParaRPr lang="zh-TW" altLang="en-US" b="1" dirty="0">
              <a:latin typeface="+mn-ea"/>
              <a:ea typeface="+mn-ea"/>
            </a:endParaRPr>
          </a:p>
        </p:txBody>
      </p:sp>
      <p:sp>
        <p:nvSpPr>
          <p:cNvPr id="3" name="內容版面配置區 2"/>
          <p:cNvSpPr>
            <a:spLocks noGrp="1"/>
          </p:cNvSpPr>
          <p:nvPr>
            <p:ph idx="1"/>
          </p:nvPr>
        </p:nvSpPr>
        <p:spPr>
          <a:xfrm>
            <a:off x="1251678" y="2132209"/>
            <a:ext cx="10178322" cy="4571999"/>
          </a:xfrm>
        </p:spPr>
        <p:txBody>
          <a:bodyPr>
            <a:normAutofit/>
          </a:bodyPr>
          <a:lstStyle/>
          <a:p>
            <a:pPr lvl="0">
              <a:buFont typeface="Wingdings" panose="05000000000000000000" pitchFamily="2" charset="2"/>
              <a:buChar char="Ø"/>
            </a:pPr>
            <a:r>
              <a:rPr lang="zh-TW" altLang="zh-TW" b="1" dirty="0">
                <a:solidFill>
                  <a:schemeClr val="tx1"/>
                </a:solidFill>
                <a:latin typeface="+mn-ea"/>
              </a:rPr>
              <a:t>虛擬機</a:t>
            </a:r>
            <a:r>
              <a:rPr lang="en-US" altLang="zh-TW" b="1" dirty="0">
                <a:solidFill>
                  <a:schemeClr val="tx1"/>
                </a:solidFill>
                <a:latin typeface="+mn-ea"/>
              </a:rPr>
              <a:t>: Oracle VM </a:t>
            </a:r>
            <a:r>
              <a:rPr lang="en-US" altLang="zh-TW" b="1" dirty="0" err="1">
                <a:solidFill>
                  <a:schemeClr val="tx1"/>
                </a:solidFill>
                <a:latin typeface="+mn-ea"/>
              </a:rPr>
              <a:t>VirtualBox</a:t>
            </a:r>
            <a:endParaRPr lang="en-US" altLang="zh-TW" b="1" dirty="0">
              <a:solidFill>
                <a:schemeClr val="tx1"/>
              </a:solidFill>
              <a:latin typeface="+mn-ea"/>
            </a:endParaRPr>
          </a:p>
          <a:p>
            <a:pPr lvl="0">
              <a:buFont typeface="Wingdings" panose="05000000000000000000" pitchFamily="2" charset="2"/>
              <a:buChar char="Ø"/>
            </a:pPr>
            <a:endParaRPr lang="zh-TW" altLang="zh-TW" b="1" dirty="0">
              <a:solidFill>
                <a:schemeClr val="tx1"/>
              </a:solidFill>
              <a:latin typeface="+mn-ea"/>
            </a:endParaRPr>
          </a:p>
          <a:p>
            <a:pPr lvl="0">
              <a:buFont typeface="Wingdings" panose="05000000000000000000" pitchFamily="2" charset="2"/>
              <a:buChar char="Ø"/>
            </a:pPr>
            <a:r>
              <a:rPr lang="zh-TW" altLang="zh-TW" b="1" dirty="0">
                <a:solidFill>
                  <a:schemeClr val="tx1"/>
                </a:solidFill>
                <a:latin typeface="+mn-ea"/>
              </a:rPr>
              <a:t>作業系統</a:t>
            </a:r>
            <a:r>
              <a:rPr lang="en-US" altLang="zh-TW" b="1" dirty="0">
                <a:solidFill>
                  <a:schemeClr val="tx1"/>
                </a:solidFill>
                <a:latin typeface="+mn-ea"/>
              </a:rPr>
              <a:t>: Window10 64</a:t>
            </a:r>
            <a:r>
              <a:rPr lang="zh-TW" altLang="zh-TW" b="1" dirty="0">
                <a:solidFill>
                  <a:schemeClr val="tx1"/>
                </a:solidFill>
                <a:latin typeface="+mn-ea"/>
              </a:rPr>
              <a:t>位元</a:t>
            </a:r>
            <a:endParaRPr lang="en-US" altLang="zh-TW" b="1" dirty="0">
              <a:solidFill>
                <a:schemeClr val="tx1"/>
              </a:solidFill>
              <a:latin typeface="+mn-ea"/>
            </a:endParaRPr>
          </a:p>
          <a:p>
            <a:pPr lvl="0">
              <a:buFont typeface="Wingdings" panose="05000000000000000000" pitchFamily="2" charset="2"/>
              <a:buChar char="Ø"/>
            </a:pPr>
            <a:endParaRPr lang="zh-TW" altLang="zh-TW" b="1" dirty="0">
              <a:solidFill>
                <a:schemeClr val="tx1"/>
              </a:solidFill>
              <a:latin typeface="+mn-ea"/>
            </a:endParaRPr>
          </a:p>
          <a:p>
            <a:pPr lvl="0">
              <a:buFont typeface="Wingdings" panose="05000000000000000000" pitchFamily="2" charset="2"/>
              <a:buChar char="Ø"/>
            </a:pPr>
            <a:r>
              <a:rPr lang="zh-TW" altLang="zh-TW" b="1" dirty="0">
                <a:solidFill>
                  <a:schemeClr val="tx1"/>
                </a:solidFill>
                <a:latin typeface="+mn-ea"/>
              </a:rPr>
              <a:t>記憶體</a:t>
            </a:r>
            <a:r>
              <a:rPr lang="en-US" altLang="zh-TW" b="1" dirty="0">
                <a:solidFill>
                  <a:schemeClr val="tx1"/>
                </a:solidFill>
                <a:latin typeface="+mn-ea"/>
              </a:rPr>
              <a:t>: 2048MB</a:t>
            </a:r>
          </a:p>
          <a:p>
            <a:pPr lvl="0">
              <a:buFont typeface="Wingdings" panose="05000000000000000000" pitchFamily="2" charset="2"/>
              <a:buChar char="Ø"/>
            </a:pPr>
            <a:endParaRPr lang="zh-TW" altLang="zh-TW" b="1" dirty="0">
              <a:solidFill>
                <a:schemeClr val="tx1"/>
              </a:solidFill>
              <a:latin typeface="+mn-ea"/>
            </a:endParaRPr>
          </a:p>
          <a:p>
            <a:pPr lvl="0">
              <a:buFont typeface="Wingdings" panose="05000000000000000000" pitchFamily="2" charset="2"/>
              <a:buChar char="Ø"/>
            </a:pPr>
            <a:r>
              <a:rPr lang="zh-TW" altLang="zh-TW" b="1" dirty="0">
                <a:solidFill>
                  <a:schemeClr val="tx1"/>
                </a:solidFill>
                <a:latin typeface="+mn-ea"/>
              </a:rPr>
              <a:t>處理器</a:t>
            </a:r>
            <a:r>
              <a:rPr lang="en-US" altLang="zh-TW" b="1" dirty="0">
                <a:solidFill>
                  <a:schemeClr val="tx1"/>
                </a:solidFill>
                <a:latin typeface="+mn-ea"/>
              </a:rPr>
              <a:t>: 2CPUs</a:t>
            </a:r>
            <a:endParaRPr lang="zh-TW" altLang="zh-TW" b="1" dirty="0">
              <a:solidFill>
                <a:schemeClr val="tx1"/>
              </a:solidFill>
              <a:latin typeface="+mn-ea"/>
            </a:endParaRPr>
          </a:p>
          <a:p>
            <a:pPr>
              <a:buFont typeface="Wingdings" panose="05000000000000000000" pitchFamily="2" charset="2"/>
              <a:buChar char="Ø"/>
            </a:pPr>
            <a:endParaRPr lang="zh-TW" altLang="en-US" dirty="0"/>
          </a:p>
        </p:txBody>
      </p:sp>
      <p:pic>
        <p:nvPicPr>
          <p:cNvPr id="5" name="圖片 4" descr="畫面剪輯"/>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07872" y="640080"/>
            <a:ext cx="6177200" cy="5376672"/>
          </a:xfrm>
          <a:prstGeom prst="rect">
            <a:avLst/>
          </a:prstGeom>
          <a:solidFill>
            <a:srgbClr val="FFFFFF">
              <a:shade val="85000"/>
            </a:srgbClr>
          </a:solidFill>
          <a:ln w="88900" cap="sq">
            <a:solidFill>
              <a:srgbClr val="FFFFFF"/>
            </a:solidFill>
            <a:miter lim="800000"/>
          </a:ln>
          <a:effectLst>
            <a:glow rad="63500">
              <a:schemeClr val="accent1">
                <a:satMod val="175000"/>
                <a:alpha val="40000"/>
              </a:schemeClr>
            </a:glow>
            <a:outerShdw blurRad="50800" dist="38100" algn="l" rotWithShape="0">
              <a:prstClr val="black">
                <a:alpha val="40000"/>
              </a:prstClr>
            </a:outerShdw>
            <a:reflection blurRad="6350" stA="50000" endA="300" endPos="55500" dist="50800" dir="5400000" sy="-100000" algn="bl" rotWithShape="0"/>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901142045"/>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zh-TW" altLang="en-US" b="1" dirty="0" smtClean="0">
                <a:latin typeface="+mn-ea"/>
                <a:ea typeface="+mn-ea"/>
              </a:rPr>
              <a:t>虛擬機優缺</a:t>
            </a:r>
            <a:r>
              <a:rPr lang="zh-TW" altLang="en-US" b="1" dirty="0">
                <a:latin typeface="+mn-ea"/>
                <a:ea typeface="+mn-ea"/>
              </a:rPr>
              <a:t>點</a:t>
            </a:r>
          </a:p>
        </p:txBody>
      </p:sp>
      <p:sp>
        <p:nvSpPr>
          <p:cNvPr id="3" name="內容版面配置區 2"/>
          <p:cNvSpPr>
            <a:spLocks noGrp="1"/>
          </p:cNvSpPr>
          <p:nvPr>
            <p:ph idx="1"/>
          </p:nvPr>
        </p:nvSpPr>
        <p:spPr>
          <a:xfrm>
            <a:off x="1251678" y="1207009"/>
            <a:ext cx="9858282" cy="5193792"/>
          </a:xfrm>
        </p:spPr>
        <p:txBody>
          <a:bodyPr>
            <a:noAutofit/>
          </a:bodyPr>
          <a:lstStyle/>
          <a:p>
            <a:pPr marL="0" indent="0">
              <a:buNone/>
            </a:pPr>
            <a:r>
              <a:rPr lang="zh-TW" altLang="en-US" b="1" dirty="0" smtClean="0">
                <a:solidFill>
                  <a:srgbClr val="FF0000"/>
                </a:solidFill>
              </a:rPr>
              <a:t>優點</a:t>
            </a:r>
            <a:r>
              <a:rPr lang="en-US" altLang="zh-TW" b="1" dirty="0" smtClean="0">
                <a:solidFill>
                  <a:srgbClr val="FF0000"/>
                </a:solidFill>
              </a:rPr>
              <a:t>:</a:t>
            </a:r>
          </a:p>
          <a:p>
            <a:pPr>
              <a:buFont typeface="Wingdings" panose="05000000000000000000" pitchFamily="2" charset="2"/>
              <a:buChar char="Ø"/>
            </a:pPr>
            <a:r>
              <a:rPr lang="zh-TW" altLang="en-US" b="1" dirty="0" smtClean="0"/>
              <a:t>獨立性</a:t>
            </a:r>
            <a:r>
              <a:rPr lang="en-US" altLang="zh-TW" b="1" dirty="0" smtClean="0"/>
              <a:t>:</a:t>
            </a:r>
            <a:r>
              <a:rPr lang="zh-TW" altLang="en-US" b="1" dirty="0" smtClean="0"/>
              <a:t> 每部虛擬機各有自己的環境，互不影響</a:t>
            </a:r>
            <a:endParaRPr lang="en-US" altLang="zh-TW" b="1" dirty="0" smtClean="0"/>
          </a:p>
          <a:p>
            <a:pPr>
              <a:buFont typeface="Wingdings" panose="05000000000000000000" pitchFamily="2" charset="2"/>
              <a:buChar char="Ø"/>
            </a:pPr>
            <a:endParaRPr lang="en-US" altLang="zh-TW" b="1" dirty="0"/>
          </a:p>
          <a:p>
            <a:pPr>
              <a:buFont typeface="Wingdings" panose="05000000000000000000" pitchFamily="2" charset="2"/>
              <a:buChar char="Ø"/>
            </a:pPr>
            <a:r>
              <a:rPr lang="zh-TW" altLang="en-US" b="1" dirty="0" smtClean="0"/>
              <a:t>完全性</a:t>
            </a:r>
            <a:r>
              <a:rPr lang="en-US" altLang="zh-TW" b="1" dirty="0" smtClean="0"/>
              <a:t>:</a:t>
            </a:r>
            <a:r>
              <a:rPr lang="zh-TW" altLang="en-US" b="1" dirty="0" smtClean="0"/>
              <a:t> 依每部虛擬機的要求合理分配資源</a:t>
            </a:r>
            <a:endParaRPr lang="en-US" altLang="zh-TW" b="1" dirty="0" smtClean="0"/>
          </a:p>
          <a:p>
            <a:pPr>
              <a:buFont typeface="Wingdings" panose="05000000000000000000" pitchFamily="2" charset="2"/>
              <a:buChar char="Ø"/>
            </a:pPr>
            <a:endParaRPr lang="en-US" altLang="zh-TW" b="1" dirty="0"/>
          </a:p>
          <a:p>
            <a:pPr>
              <a:buFont typeface="Wingdings" panose="05000000000000000000" pitchFamily="2" charset="2"/>
              <a:buChar char="Ø"/>
            </a:pPr>
            <a:r>
              <a:rPr lang="zh-TW" altLang="en-US" b="1" dirty="0" smtClean="0"/>
              <a:t>易修復性</a:t>
            </a:r>
            <a:r>
              <a:rPr lang="en-US" altLang="zh-TW" b="1" dirty="0" smtClean="0"/>
              <a:t>:</a:t>
            </a:r>
            <a:r>
              <a:rPr lang="zh-TW" altLang="en-US" b="1" dirty="0" smtClean="0"/>
              <a:t> 透過</a:t>
            </a:r>
            <a:r>
              <a:rPr lang="en-US" altLang="zh-TW" b="1" dirty="0" smtClean="0"/>
              <a:t>VM</a:t>
            </a:r>
            <a:r>
              <a:rPr lang="zh-TW" altLang="en-US" b="1" dirty="0" smtClean="0"/>
              <a:t> </a:t>
            </a:r>
            <a:r>
              <a:rPr lang="en-US" altLang="zh-TW" b="1" dirty="0" smtClean="0"/>
              <a:t>Snapshot</a:t>
            </a:r>
            <a:r>
              <a:rPr lang="zh-TW" altLang="en-US" b="1" dirty="0" smtClean="0"/>
              <a:t>建立多個還原點，用於修復</a:t>
            </a:r>
            <a:endParaRPr lang="en-US" altLang="zh-TW" b="1" dirty="0" smtClean="0"/>
          </a:p>
          <a:p>
            <a:pPr>
              <a:buFont typeface="Wingdings" panose="05000000000000000000" pitchFamily="2" charset="2"/>
              <a:buChar char="Ø"/>
            </a:pPr>
            <a:endParaRPr lang="en-US" altLang="zh-TW" b="1" dirty="0"/>
          </a:p>
          <a:p>
            <a:pPr marL="0" indent="0">
              <a:buNone/>
            </a:pPr>
            <a:r>
              <a:rPr lang="zh-TW" altLang="en-US" b="1" dirty="0" smtClean="0">
                <a:solidFill>
                  <a:srgbClr val="FF0000"/>
                </a:solidFill>
              </a:rPr>
              <a:t>缺點</a:t>
            </a:r>
            <a:r>
              <a:rPr lang="en-US" altLang="zh-TW" b="1" dirty="0" smtClean="0">
                <a:solidFill>
                  <a:srgbClr val="FF0000"/>
                </a:solidFill>
              </a:rPr>
              <a:t>:</a:t>
            </a:r>
          </a:p>
          <a:p>
            <a:pPr>
              <a:buFont typeface="Wingdings" panose="05000000000000000000" pitchFamily="2" charset="2"/>
              <a:buChar char="Ø"/>
            </a:pPr>
            <a:r>
              <a:rPr lang="zh-TW" altLang="en-US" b="1" dirty="0" smtClean="0"/>
              <a:t>服務版本更新困難</a:t>
            </a:r>
            <a:r>
              <a:rPr lang="en-US" altLang="zh-TW" b="1" dirty="0" smtClean="0"/>
              <a:t>:</a:t>
            </a:r>
            <a:r>
              <a:rPr lang="zh-TW" altLang="en-US" b="1" dirty="0" smtClean="0"/>
              <a:t> 暫停虛擬機運行來更新，若有多部虛擬機更新，將耗費大量時間及人力</a:t>
            </a:r>
            <a:endParaRPr lang="en-US" altLang="zh-TW" b="1" dirty="0" smtClean="0"/>
          </a:p>
          <a:p>
            <a:pPr>
              <a:buFont typeface="Wingdings" panose="05000000000000000000" pitchFamily="2" charset="2"/>
              <a:buChar char="Ø"/>
            </a:pPr>
            <a:endParaRPr lang="en-US" altLang="zh-TW" b="1" dirty="0"/>
          </a:p>
          <a:p>
            <a:pPr>
              <a:buFont typeface="Wingdings" panose="05000000000000000000" pitchFamily="2" charset="2"/>
              <a:buChar char="Ø"/>
            </a:pPr>
            <a:r>
              <a:rPr lang="zh-TW" altLang="en-US" b="1" dirty="0" smtClean="0"/>
              <a:t>修復時間耗時</a:t>
            </a:r>
            <a:r>
              <a:rPr lang="en-US" altLang="zh-TW" b="1" dirty="0" smtClean="0"/>
              <a:t>:</a:t>
            </a:r>
            <a:r>
              <a:rPr lang="zh-TW" altLang="en-US" b="1" dirty="0" smtClean="0"/>
              <a:t> 遇到錯誤時可透過</a:t>
            </a:r>
            <a:r>
              <a:rPr lang="en-US" altLang="zh-TW" b="1" dirty="0" smtClean="0"/>
              <a:t>Snapshot</a:t>
            </a:r>
            <a:r>
              <a:rPr lang="zh-TW" altLang="en-US" b="1" dirty="0" smtClean="0"/>
              <a:t>修復，但可能需要重啟，若有多部機器出錯需要人工重啟，也會耗時</a:t>
            </a:r>
            <a:endParaRPr lang="zh-TW" altLang="en-US" b="1" dirty="0"/>
          </a:p>
        </p:txBody>
      </p:sp>
    </p:spTree>
    <p:extLst>
      <p:ext uri="{BB962C8B-B14F-4D97-AF65-F5344CB8AC3E}">
        <p14:creationId xmlns:p14="http://schemas.microsoft.com/office/powerpoint/2010/main" val="384730505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990000"/>
        </a:solidFill>
        <a:effectLst/>
      </p:bgPr>
    </p:bg>
    <p:spTree>
      <p:nvGrpSpPr>
        <p:cNvPr id="1" name=""/>
        <p:cNvGrpSpPr/>
        <p:nvPr/>
      </p:nvGrpSpPr>
      <p:grpSpPr>
        <a:xfrm>
          <a:off x="0" y="0"/>
          <a:ext cx="0" cy="0"/>
          <a:chOff x="0" y="0"/>
          <a:chExt cx="0" cy="0"/>
        </a:xfrm>
      </p:grpSpPr>
      <p:sp>
        <p:nvSpPr>
          <p:cNvPr id="2" name="標題 1"/>
          <p:cNvSpPr>
            <a:spLocks noGrp="1"/>
          </p:cNvSpPr>
          <p:nvPr>
            <p:ph type="ctrTitle"/>
          </p:nvPr>
        </p:nvSpPr>
        <p:spPr/>
        <p:txBody>
          <a:bodyPr/>
          <a:lstStyle/>
          <a:p>
            <a:r>
              <a:rPr lang="zh-TW" altLang="en-US" sz="9000" b="1" dirty="0" smtClean="0">
                <a:latin typeface="+mn-ea"/>
                <a:ea typeface="+mn-ea"/>
              </a:rPr>
              <a:t>實作</a:t>
            </a:r>
            <a:r>
              <a:rPr lang="en-US" altLang="zh-TW" sz="9000" b="1" dirty="0" smtClean="0">
                <a:latin typeface="+mn-ea"/>
                <a:ea typeface="+mn-ea"/>
              </a:rPr>
              <a:t/>
            </a:r>
            <a:br>
              <a:rPr lang="en-US" altLang="zh-TW" sz="9000" b="1" dirty="0" smtClean="0">
                <a:latin typeface="+mn-ea"/>
                <a:ea typeface="+mn-ea"/>
              </a:rPr>
            </a:br>
            <a:r>
              <a:rPr lang="zh-TW" altLang="en-US" sz="9000" b="1" dirty="0" smtClean="0">
                <a:latin typeface="+mn-ea"/>
                <a:ea typeface="+mn-ea"/>
              </a:rPr>
              <a:t>探討</a:t>
            </a:r>
            <a:endParaRPr lang="en-US" altLang="zh-TW" sz="9000" b="1" dirty="0">
              <a:latin typeface="+mn-ea"/>
              <a:ea typeface="+mn-ea"/>
            </a:endParaRPr>
          </a:p>
        </p:txBody>
      </p:sp>
    </p:spTree>
    <p:extLst>
      <p:ext uri="{BB962C8B-B14F-4D97-AF65-F5344CB8AC3E}">
        <p14:creationId xmlns:p14="http://schemas.microsoft.com/office/powerpoint/2010/main" val="3104846768"/>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pPr algn="ctr"/>
            <a:r>
              <a:rPr lang="en-US" altLang="zh-TW" b="1" dirty="0">
                <a:solidFill>
                  <a:schemeClr val="tx1"/>
                </a:solidFill>
                <a:latin typeface="Times New Roman" panose="02020603050405020304" pitchFamily="18" charset="0"/>
                <a:ea typeface="+mn-ea"/>
                <a:cs typeface="Times New Roman" panose="02020603050405020304" pitchFamily="18" charset="0"/>
              </a:rPr>
              <a:t>Part </a:t>
            </a:r>
            <a:r>
              <a:rPr lang="en-US" altLang="zh-TW" b="1" dirty="0" smtClean="0">
                <a:solidFill>
                  <a:schemeClr val="tx1"/>
                </a:solidFill>
                <a:latin typeface="Times New Roman" panose="02020603050405020304" pitchFamily="18" charset="0"/>
                <a:ea typeface="+mn-ea"/>
                <a:cs typeface="Times New Roman" panose="02020603050405020304" pitchFamily="18" charset="0"/>
              </a:rPr>
              <a:t>I.</a:t>
            </a:r>
            <a:r>
              <a:rPr lang="zh-TW" altLang="en-US" b="1" dirty="0" smtClean="0">
                <a:solidFill>
                  <a:schemeClr val="tx1"/>
                </a:solidFill>
                <a:latin typeface="Times New Roman" panose="02020603050405020304" pitchFamily="18" charset="0"/>
                <a:ea typeface="+mn-ea"/>
                <a:cs typeface="Times New Roman" panose="02020603050405020304" pitchFamily="18" charset="0"/>
              </a:rPr>
              <a:t> 生成</a:t>
            </a:r>
            <a:r>
              <a:rPr lang="en-US" altLang="zh-TW" b="1" dirty="0" smtClean="0">
                <a:solidFill>
                  <a:schemeClr val="tx1"/>
                </a:solidFill>
                <a:latin typeface="Times New Roman" panose="02020603050405020304" pitchFamily="18" charset="0"/>
                <a:ea typeface="+mn-ea"/>
                <a:cs typeface="Times New Roman" panose="02020603050405020304" pitchFamily="18" charset="0"/>
              </a:rPr>
              <a:t>RSA </a:t>
            </a:r>
            <a:r>
              <a:rPr lang="zh-TW" altLang="en-US" b="1" dirty="0">
                <a:solidFill>
                  <a:schemeClr val="tx1"/>
                </a:solidFill>
                <a:latin typeface="Times New Roman" panose="02020603050405020304" pitchFamily="18" charset="0"/>
                <a:ea typeface="+mn-ea"/>
                <a:cs typeface="Times New Roman" panose="02020603050405020304" pitchFamily="18" charset="0"/>
              </a:rPr>
              <a:t>密</a:t>
            </a:r>
            <a:r>
              <a:rPr lang="zh-TW" altLang="en-US" b="1" dirty="0" smtClean="0">
                <a:solidFill>
                  <a:schemeClr val="tx1"/>
                </a:solidFill>
                <a:latin typeface="Times New Roman" panose="02020603050405020304" pitchFamily="18" charset="0"/>
                <a:ea typeface="+mn-ea"/>
                <a:cs typeface="Times New Roman" panose="02020603050405020304" pitchFamily="18" charset="0"/>
              </a:rPr>
              <a:t>鑰</a:t>
            </a:r>
            <a:endParaRPr lang="zh-TW" altLang="en-US" b="1" dirty="0">
              <a:solidFill>
                <a:schemeClr val="tx1"/>
              </a:solidFill>
              <a:latin typeface="Times New Roman" panose="02020603050405020304" pitchFamily="18" charset="0"/>
              <a:ea typeface="+mn-ea"/>
              <a:cs typeface="Times New Roman" panose="02020603050405020304" pitchFamily="18" charset="0"/>
            </a:endParaRPr>
          </a:p>
        </p:txBody>
      </p:sp>
      <p:sp>
        <p:nvSpPr>
          <p:cNvPr id="3" name="內容版面配置區 2"/>
          <p:cNvSpPr>
            <a:spLocks noGrp="1"/>
          </p:cNvSpPr>
          <p:nvPr>
            <p:ph idx="1"/>
          </p:nvPr>
        </p:nvSpPr>
        <p:spPr>
          <a:xfrm>
            <a:off x="1041366" y="1719072"/>
            <a:ext cx="10388634" cy="4663439"/>
          </a:xfrm>
        </p:spPr>
        <p:txBody>
          <a:bodyPr/>
          <a:lstStyle/>
          <a:p>
            <a:pPr>
              <a:buFont typeface="Wingdings" panose="05000000000000000000" pitchFamily="2" charset="2"/>
              <a:buChar char="Ø"/>
            </a:pPr>
            <a:r>
              <a:rPr lang="en-US" altLang="zh-TW" b="1" dirty="0" smtClean="0"/>
              <a:t>RSA</a:t>
            </a:r>
            <a:r>
              <a:rPr lang="zh-TW" altLang="en-US" b="1" dirty="0" smtClean="0"/>
              <a:t>是一種加</a:t>
            </a:r>
            <a:r>
              <a:rPr lang="zh-TW" altLang="en-US" b="1" dirty="0"/>
              <a:t>密</a:t>
            </a:r>
            <a:r>
              <a:rPr lang="zh-TW" altLang="en-US" b="1" dirty="0" smtClean="0"/>
              <a:t>演算法，是</a:t>
            </a:r>
            <a:r>
              <a:rPr lang="zh-TW" altLang="en-US" b="1" dirty="0"/>
              <a:t>當今最廣泛使用公鑰加密演算法之</a:t>
            </a:r>
            <a:r>
              <a:rPr lang="zh-TW" altLang="en-US" b="1" dirty="0" smtClean="0"/>
              <a:t>一</a:t>
            </a:r>
            <a:endParaRPr lang="en-US" altLang="zh-TW" b="1" dirty="0" smtClean="0"/>
          </a:p>
          <a:p>
            <a:pPr>
              <a:buFont typeface="Wingdings" panose="05000000000000000000" pitchFamily="2" charset="2"/>
              <a:buChar char="Ø"/>
            </a:pPr>
            <a:endParaRPr lang="en-US" altLang="zh-TW" b="1" dirty="0"/>
          </a:p>
          <a:p>
            <a:pPr>
              <a:buFont typeface="Wingdings" panose="05000000000000000000" pitchFamily="2" charset="2"/>
              <a:buChar char="Ø"/>
            </a:pPr>
            <a:r>
              <a:rPr lang="zh-TW" altLang="zh-TW" b="1" dirty="0"/>
              <a:t>使用者擁有一對公鑰和私</a:t>
            </a:r>
            <a:r>
              <a:rPr lang="zh-TW" altLang="zh-TW" b="1" dirty="0" smtClean="0"/>
              <a:t>鑰</a:t>
            </a:r>
            <a:endParaRPr lang="en-US" altLang="zh-TW" b="1" dirty="0" smtClean="0"/>
          </a:p>
          <a:p>
            <a:pPr>
              <a:buFont typeface="Wingdings" panose="05000000000000000000" pitchFamily="2" charset="2"/>
              <a:buChar char="Ø"/>
            </a:pPr>
            <a:endParaRPr lang="en-US" altLang="zh-TW" b="1" dirty="0"/>
          </a:p>
          <a:p>
            <a:pPr>
              <a:buFont typeface="Wingdings" panose="05000000000000000000" pitchFamily="2" charset="2"/>
              <a:buChar char="Ø"/>
            </a:pPr>
            <a:r>
              <a:rPr lang="en-US" altLang="zh-TW" b="1" dirty="0"/>
              <a:t>RSA</a:t>
            </a:r>
            <a:r>
              <a:rPr lang="zh-TW" altLang="en-US" b="1" dirty="0"/>
              <a:t>的運作原理是基於數學中兩個重要問題：大數分解和模</a:t>
            </a:r>
            <a:r>
              <a:rPr lang="zh-TW" altLang="en-US" b="1" dirty="0" smtClean="0"/>
              <a:t>數</a:t>
            </a:r>
            <a:r>
              <a:rPr lang="en-US" altLang="zh-TW" b="1" dirty="0" smtClean="0"/>
              <a:t>(mod)</a:t>
            </a:r>
            <a:r>
              <a:rPr lang="zh-TW" altLang="en-US" b="1" dirty="0" smtClean="0"/>
              <a:t>取</a:t>
            </a:r>
            <a:r>
              <a:rPr lang="zh-TW" altLang="en-US" b="1" dirty="0"/>
              <a:t>離散</a:t>
            </a:r>
            <a:r>
              <a:rPr lang="zh-TW" altLang="en-US" b="1" dirty="0" smtClean="0"/>
              <a:t>對數</a:t>
            </a:r>
            <a:endParaRPr lang="en-US" altLang="zh-TW" b="1" dirty="0" smtClean="0"/>
          </a:p>
          <a:p>
            <a:pPr>
              <a:buFont typeface="Wingdings" panose="05000000000000000000" pitchFamily="2" charset="2"/>
              <a:buChar char="Ø"/>
            </a:pPr>
            <a:endParaRPr lang="en-US" altLang="zh-TW" b="1" dirty="0"/>
          </a:p>
          <a:p>
            <a:pPr>
              <a:buFont typeface="Wingdings" panose="05000000000000000000" pitchFamily="2" charset="2"/>
              <a:buChar char="Ø"/>
            </a:pPr>
            <a:r>
              <a:rPr lang="en-US" altLang="zh-TW" b="1" dirty="0" smtClean="0"/>
              <a:t>RSA</a:t>
            </a:r>
            <a:r>
              <a:rPr lang="zh-TW" altLang="en-US" b="1" dirty="0" smtClean="0"/>
              <a:t>加密原理</a:t>
            </a:r>
            <a:r>
              <a:rPr lang="en-US" altLang="zh-TW" b="1" dirty="0" smtClean="0"/>
              <a:t>:</a:t>
            </a:r>
            <a:r>
              <a:rPr lang="zh-TW" altLang="en-US" b="1" dirty="0" smtClean="0"/>
              <a:t> 發送方公鑰加密，接收方私鑰解密，私鑰只有接收方擁有，確保數據安全性</a:t>
            </a:r>
            <a:endParaRPr lang="en-US" altLang="zh-TW" b="1" dirty="0" smtClean="0"/>
          </a:p>
          <a:p>
            <a:endParaRPr lang="zh-TW" altLang="en-US" dirty="0"/>
          </a:p>
        </p:txBody>
      </p:sp>
    </p:spTree>
    <p:extLst>
      <p:ext uri="{BB962C8B-B14F-4D97-AF65-F5344CB8AC3E}">
        <p14:creationId xmlns:p14="http://schemas.microsoft.com/office/powerpoint/2010/main" val="9581025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251677" y="382385"/>
            <a:ext cx="10438401" cy="1492132"/>
          </a:xfrm>
        </p:spPr>
        <p:txBody>
          <a:bodyPr>
            <a:normAutofit/>
          </a:bodyPr>
          <a:lstStyle/>
          <a:p>
            <a:pPr algn="ctr"/>
            <a:r>
              <a:rPr lang="en-US" altLang="zh-TW" b="1" dirty="0">
                <a:solidFill>
                  <a:schemeClr val="tx1"/>
                </a:solidFill>
                <a:latin typeface="Times New Roman" panose="02020603050405020304" pitchFamily="18" charset="0"/>
                <a:ea typeface="+mn-ea"/>
                <a:cs typeface="Times New Roman" panose="02020603050405020304" pitchFamily="18" charset="0"/>
              </a:rPr>
              <a:t>Part </a:t>
            </a:r>
            <a:r>
              <a:rPr lang="en-US" altLang="zh-TW" b="1" dirty="0" smtClean="0">
                <a:solidFill>
                  <a:schemeClr val="tx1"/>
                </a:solidFill>
                <a:latin typeface="Times New Roman" panose="02020603050405020304" pitchFamily="18" charset="0"/>
                <a:ea typeface="+mn-ea"/>
                <a:cs typeface="Times New Roman" panose="02020603050405020304" pitchFamily="18" charset="0"/>
              </a:rPr>
              <a:t>II.</a:t>
            </a:r>
            <a:r>
              <a:rPr lang="zh-TW" altLang="en-US" b="1" dirty="0" smtClean="0">
                <a:solidFill>
                  <a:schemeClr val="tx1"/>
                </a:solidFill>
                <a:latin typeface="Times New Roman" panose="02020603050405020304" pitchFamily="18" charset="0"/>
                <a:ea typeface="+mn-ea"/>
                <a:cs typeface="Times New Roman" panose="02020603050405020304" pitchFamily="18" charset="0"/>
              </a:rPr>
              <a:t>加</a:t>
            </a:r>
            <a:r>
              <a:rPr lang="zh-TW" altLang="en-US" b="1" dirty="0">
                <a:solidFill>
                  <a:schemeClr val="tx1"/>
                </a:solidFill>
                <a:latin typeface="Times New Roman" panose="02020603050405020304" pitchFamily="18" charset="0"/>
                <a:ea typeface="+mn-ea"/>
                <a:cs typeface="Times New Roman" panose="02020603050405020304" pitchFamily="18" charset="0"/>
              </a:rPr>
              <a:t>密</a:t>
            </a:r>
            <a:r>
              <a:rPr lang="zh-TW" altLang="en-US" b="1" dirty="0" smtClean="0">
                <a:solidFill>
                  <a:schemeClr val="tx1"/>
                </a:solidFill>
                <a:latin typeface="Times New Roman" panose="02020603050405020304" pitchFamily="18" charset="0"/>
                <a:ea typeface="+mn-ea"/>
                <a:cs typeface="Times New Roman" panose="02020603050405020304" pitchFamily="18" charset="0"/>
              </a:rPr>
              <a:t>演算法進行</a:t>
            </a:r>
            <a:r>
              <a:rPr lang="zh-TW" altLang="en-US" b="1" dirty="0">
                <a:solidFill>
                  <a:schemeClr val="tx1"/>
                </a:solidFill>
                <a:latin typeface="Times New Roman" panose="02020603050405020304" pitchFamily="18" charset="0"/>
                <a:ea typeface="+mn-ea"/>
                <a:cs typeface="Times New Roman" panose="02020603050405020304" pitchFamily="18" charset="0"/>
              </a:rPr>
              <a:t>加</a:t>
            </a:r>
            <a:r>
              <a:rPr lang="zh-TW" altLang="en-US" b="1" dirty="0" smtClean="0">
                <a:solidFill>
                  <a:schemeClr val="tx1"/>
                </a:solidFill>
                <a:latin typeface="Times New Roman" panose="02020603050405020304" pitchFamily="18" charset="0"/>
                <a:ea typeface="+mn-ea"/>
                <a:cs typeface="Times New Roman" panose="02020603050405020304" pitchFamily="18" charset="0"/>
              </a:rPr>
              <a:t>密文件</a:t>
            </a:r>
            <a:endParaRPr lang="zh-TW" altLang="en-US" b="1" dirty="0">
              <a:solidFill>
                <a:schemeClr val="tx1"/>
              </a:solidFill>
              <a:latin typeface="Times New Roman" panose="02020603050405020304" pitchFamily="18" charset="0"/>
              <a:ea typeface="+mn-ea"/>
              <a:cs typeface="Times New Roman" panose="02020603050405020304" pitchFamily="18" charset="0"/>
            </a:endParaRPr>
          </a:p>
        </p:txBody>
      </p:sp>
      <p:sp>
        <p:nvSpPr>
          <p:cNvPr id="3" name="內容版面配置區 2"/>
          <p:cNvSpPr>
            <a:spLocks noGrp="1"/>
          </p:cNvSpPr>
          <p:nvPr>
            <p:ph idx="1"/>
          </p:nvPr>
        </p:nvSpPr>
        <p:spPr>
          <a:xfrm>
            <a:off x="991598" y="1210747"/>
            <a:ext cx="10698480" cy="5266943"/>
          </a:xfrm>
        </p:spPr>
        <p:txBody>
          <a:bodyPr>
            <a:normAutofit lnSpcReduction="10000"/>
          </a:bodyPr>
          <a:lstStyle/>
          <a:p>
            <a:pPr>
              <a:buFont typeface="Wingdings" panose="05000000000000000000" pitchFamily="2" charset="2"/>
              <a:buChar char="Ø"/>
            </a:pPr>
            <a:endParaRPr lang="en-US" altLang="zh-TW" dirty="0" smtClean="0"/>
          </a:p>
          <a:p>
            <a:pPr>
              <a:buFont typeface="Wingdings" panose="05000000000000000000" pitchFamily="2" charset="2"/>
              <a:buChar char="Ø"/>
            </a:pPr>
            <a:r>
              <a:rPr lang="zh-TW" altLang="zh-TW" b="1" dirty="0" smtClean="0"/>
              <a:t>加</a:t>
            </a:r>
            <a:r>
              <a:rPr lang="zh-TW" altLang="zh-TW" b="1" dirty="0"/>
              <a:t>密後</a:t>
            </a:r>
            <a:r>
              <a:rPr lang="zh-TW" altLang="zh-TW" b="1" dirty="0" smtClean="0"/>
              <a:t>，會</a:t>
            </a:r>
            <a:r>
              <a:rPr lang="zh-TW" altLang="zh-TW" b="1" dirty="0"/>
              <a:t>將原始文件刪除並將加密</a:t>
            </a:r>
            <a:r>
              <a:rPr lang="zh-TW" altLang="zh-TW" b="1" dirty="0" smtClean="0"/>
              <a:t>後數據</a:t>
            </a:r>
            <a:r>
              <a:rPr lang="zh-TW" altLang="zh-TW" b="1" dirty="0"/>
              <a:t>保存到</a:t>
            </a:r>
            <a:r>
              <a:rPr lang="zh-TW" altLang="zh-TW" b="1" dirty="0" smtClean="0"/>
              <a:t>以</a:t>
            </a:r>
            <a:r>
              <a:rPr lang="en-US" altLang="zh-TW" b="1" dirty="0" smtClean="0"/>
              <a:t>“.</a:t>
            </a:r>
            <a:r>
              <a:rPr lang="en-US" altLang="zh-TW" b="1" dirty="0" err="1" smtClean="0"/>
              <a:t>GiveMeMoney</a:t>
            </a:r>
            <a:r>
              <a:rPr lang="en-US" altLang="zh-TW" b="1" dirty="0" smtClean="0"/>
              <a:t>”</a:t>
            </a:r>
            <a:r>
              <a:rPr lang="zh-TW" altLang="zh-TW" b="1" dirty="0" smtClean="0"/>
              <a:t>為</a:t>
            </a:r>
            <a:r>
              <a:rPr lang="zh-TW" altLang="en-US" b="1" dirty="0" smtClean="0"/>
              <a:t>副檔</a:t>
            </a:r>
            <a:r>
              <a:rPr lang="zh-TW" altLang="zh-TW" b="1" dirty="0" smtClean="0"/>
              <a:t>名的文件中</a:t>
            </a:r>
            <a:r>
              <a:rPr lang="zh-TW" altLang="en-US" b="1" dirty="0" smtClean="0"/>
              <a:t>，步驟如下</a:t>
            </a:r>
            <a:r>
              <a:rPr lang="en-US" altLang="zh-TW" b="1" dirty="0" smtClean="0"/>
              <a:t>:</a:t>
            </a:r>
            <a:endParaRPr lang="en-US" altLang="zh-TW" b="1" dirty="0"/>
          </a:p>
          <a:p>
            <a:pPr>
              <a:buFont typeface="Wingdings" panose="05000000000000000000" pitchFamily="2" charset="2"/>
              <a:buChar char="Ø"/>
            </a:pPr>
            <a:endParaRPr lang="en-US" altLang="zh-TW" b="1" dirty="0" smtClean="0"/>
          </a:p>
          <a:p>
            <a:pPr marL="457200" indent="-457200">
              <a:buFont typeface="+mj-lt"/>
              <a:buAutoNum type="alphaUcPeriod"/>
            </a:pPr>
            <a:r>
              <a:rPr lang="zh-TW" altLang="en-US" b="1" dirty="0" smtClean="0"/>
              <a:t>讀取</a:t>
            </a:r>
            <a:r>
              <a:rPr lang="zh-TW" altLang="en-US" b="1" dirty="0"/>
              <a:t>文件</a:t>
            </a:r>
            <a:r>
              <a:rPr lang="zh-TW" altLang="en-US" b="1" dirty="0" smtClean="0"/>
              <a:t>資料</a:t>
            </a:r>
            <a:endParaRPr lang="en-US" altLang="zh-TW" b="1" dirty="0" smtClean="0"/>
          </a:p>
          <a:p>
            <a:pPr marL="457200" indent="-457200">
              <a:buFont typeface="+mj-lt"/>
              <a:buAutoNum type="alphaUcPeriod"/>
            </a:pPr>
            <a:endParaRPr lang="zh-TW" altLang="en-US" b="1" dirty="0"/>
          </a:p>
          <a:p>
            <a:pPr marL="457200" indent="-457200">
              <a:buFont typeface="+mj-lt"/>
              <a:buAutoNum type="alphaUcPeriod"/>
            </a:pPr>
            <a:r>
              <a:rPr lang="zh-TW" altLang="en-US" b="1" dirty="0" smtClean="0"/>
              <a:t>創造</a:t>
            </a:r>
            <a:r>
              <a:rPr lang="zh-TW" altLang="en-US" b="1" dirty="0"/>
              <a:t>公鑰，並生成一個隨機的密</a:t>
            </a:r>
            <a:r>
              <a:rPr lang="zh-TW" altLang="en-US" b="1" dirty="0" smtClean="0"/>
              <a:t>鑰</a:t>
            </a:r>
            <a:endParaRPr lang="en-US" altLang="zh-TW" b="1" dirty="0" smtClean="0"/>
          </a:p>
          <a:p>
            <a:pPr marL="457200" indent="-457200">
              <a:buFont typeface="+mj-lt"/>
              <a:buAutoNum type="alphaUcPeriod"/>
            </a:pPr>
            <a:endParaRPr lang="zh-TW" altLang="en-US" b="1" dirty="0"/>
          </a:p>
          <a:p>
            <a:pPr marL="457200" indent="-457200">
              <a:buFont typeface="+mj-lt"/>
              <a:buAutoNum type="alphaUcPeriod"/>
            </a:pPr>
            <a:r>
              <a:rPr lang="zh-TW" altLang="en-US" b="1" dirty="0" smtClean="0"/>
              <a:t>使用</a:t>
            </a:r>
            <a:r>
              <a:rPr lang="zh-TW" altLang="en-US" b="1" dirty="0"/>
              <a:t>公鑰加密密</a:t>
            </a:r>
            <a:r>
              <a:rPr lang="zh-TW" altLang="en-US" b="1" dirty="0" smtClean="0"/>
              <a:t>鑰</a:t>
            </a:r>
            <a:endParaRPr lang="en-US" altLang="zh-TW" b="1" dirty="0" smtClean="0"/>
          </a:p>
          <a:p>
            <a:pPr marL="457200" indent="-457200">
              <a:buFont typeface="+mj-lt"/>
              <a:buAutoNum type="alphaUcPeriod"/>
            </a:pPr>
            <a:endParaRPr lang="zh-TW" altLang="en-US" b="1" dirty="0"/>
          </a:p>
          <a:p>
            <a:pPr marL="457200" indent="-457200">
              <a:buFont typeface="+mj-lt"/>
              <a:buAutoNum type="alphaUcPeriod"/>
            </a:pPr>
            <a:r>
              <a:rPr lang="zh-TW" altLang="en-US" b="1" dirty="0" smtClean="0"/>
              <a:t>使用</a:t>
            </a:r>
            <a:r>
              <a:rPr lang="zh-TW" altLang="en-US" b="1" dirty="0"/>
              <a:t>被密鑰和</a:t>
            </a:r>
            <a:r>
              <a:rPr lang="en-US" altLang="zh-TW" b="1" dirty="0"/>
              <a:t>AES</a:t>
            </a:r>
            <a:r>
              <a:rPr lang="zh-TW" altLang="en-US" b="1" dirty="0"/>
              <a:t>演算法對文件資料進行加</a:t>
            </a:r>
            <a:r>
              <a:rPr lang="zh-TW" altLang="en-US" b="1" dirty="0" smtClean="0"/>
              <a:t>密</a:t>
            </a:r>
            <a:endParaRPr lang="en-US" altLang="zh-TW" b="1" dirty="0" smtClean="0"/>
          </a:p>
          <a:p>
            <a:pPr marL="457200" indent="-457200">
              <a:buFont typeface="+mj-lt"/>
              <a:buAutoNum type="alphaUcPeriod"/>
            </a:pPr>
            <a:endParaRPr lang="zh-TW" altLang="en-US" b="1" dirty="0"/>
          </a:p>
          <a:p>
            <a:pPr marL="457200" indent="-457200">
              <a:buFont typeface="+mj-lt"/>
              <a:buAutoNum type="alphaUcPeriod"/>
            </a:pPr>
            <a:r>
              <a:rPr lang="zh-TW" altLang="en-US" b="1" dirty="0" smtClean="0"/>
              <a:t>將</a:t>
            </a:r>
            <a:r>
              <a:rPr lang="zh-TW" altLang="en-US" b="1" dirty="0"/>
              <a:t>加密後的資料數據保存到文件中，並移除原始文件</a:t>
            </a:r>
          </a:p>
          <a:p>
            <a:pPr marL="457200" indent="-457200">
              <a:buFont typeface="+mj-lt"/>
              <a:buAutoNum type="alphaUcPeriod"/>
            </a:pPr>
            <a:endParaRPr lang="zh-TW" altLang="en-US" dirty="0"/>
          </a:p>
        </p:txBody>
      </p:sp>
    </p:spTree>
    <p:extLst>
      <p:ext uri="{BB962C8B-B14F-4D97-AF65-F5344CB8AC3E}">
        <p14:creationId xmlns:p14="http://schemas.microsoft.com/office/powerpoint/2010/main" val="36441609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pPr algn="ctr"/>
            <a:r>
              <a:rPr lang="en-US" altLang="zh-TW" b="1" dirty="0">
                <a:solidFill>
                  <a:schemeClr val="tx1"/>
                </a:solidFill>
                <a:latin typeface="Times New Roman" panose="02020603050405020304" pitchFamily="18" charset="0"/>
                <a:ea typeface="+mn-ea"/>
                <a:cs typeface="Times New Roman" panose="02020603050405020304" pitchFamily="18" charset="0"/>
              </a:rPr>
              <a:t>Part </a:t>
            </a:r>
            <a:r>
              <a:rPr lang="en-US" altLang="zh-TW" b="1" dirty="0" smtClean="0">
                <a:solidFill>
                  <a:schemeClr val="tx1"/>
                </a:solidFill>
                <a:latin typeface="Times New Roman" panose="02020603050405020304" pitchFamily="18" charset="0"/>
                <a:ea typeface="+mn-ea"/>
                <a:cs typeface="Times New Roman" panose="02020603050405020304" pitchFamily="18" charset="0"/>
              </a:rPr>
              <a:t>III.</a:t>
            </a:r>
            <a:r>
              <a:rPr lang="zh-TW" altLang="en-US" b="1" dirty="0" smtClean="0">
                <a:solidFill>
                  <a:schemeClr val="tx1"/>
                </a:solidFill>
                <a:latin typeface="Times New Roman" panose="02020603050405020304" pitchFamily="18" charset="0"/>
                <a:ea typeface="+mn-ea"/>
                <a:cs typeface="Times New Roman" panose="02020603050405020304" pitchFamily="18" charset="0"/>
              </a:rPr>
              <a:t> 解密被加密的文件</a:t>
            </a:r>
            <a:endParaRPr lang="zh-TW" altLang="en-US" b="1" dirty="0">
              <a:solidFill>
                <a:schemeClr val="tx1"/>
              </a:solidFill>
              <a:latin typeface="Times New Roman" panose="02020603050405020304" pitchFamily="18" charset="0"/>
              <a:ea typeface="+mn-ea"/>
              <a:cs typeface="Times New Roman" panose="02020603050405020304" pitchFamily="18" charset="0"/>
            </a:endParaRPr>
          </a:p>
        </p:txBody>
      </p:sp>
      <p:sp>
        <p:nvSpPr>
          <p:cNvPr id="3" name="內容版面配置區 2"/>
          <p:cNvSpPr>
            <a:spLocks noGrp="1"/>
          </p:cNvSpPr>
          <p:nvPr>
            <p:ph idx="1"/>
          </p:nvPr>
        </p:nvSpPr>
        <p:spPr>
          <a:xfrm>
            <a:off x="995646" y="1128451"/>
            <a:ext cx="10178322" cy="5592389"/>
          </a:xfrm>
        </p:spPr>
        <p:txBody>
          <a:bodyPr/>
          <a:lstStyle/>
          <a:p>
            <a:pPr>
              <a:buFont typeface="Wingdings" panose="05000000000000000000" pitchFamily="2" charset="2"/>
              <a:buChar char="Ø"/>
            </a:pPr>
            <a:endParaRPr lang="en-US" altLang="zh-TW" b="1" dirty="0" smtClean="0"/>
          </a:p>
          <a:p>
            <a:pPr>
              <a:buFont typeface="Wingdings" panose="05000000000000000000" pitchFamily="2" charset="2"/>
              <a:buChar char="Ø"/>
            </a:pPr>
            <a:r>
              <a:rPr lang="zh-TW" altLang="zh-TW" b="1" dirty="0" smtClean="0"/>
              <a:t>將</a:t>
            </a:r>
            <a:r>
              <a:rPr lang="zh-TW" altLang="zh-TW" b="1" dirty="0"/>
              <a:t>欲破解的文件路徑和私鑰路徑作為輸入</a:t>
            </a:r>
            <a:r>
              <a:rPr lang="zh-TW" altLang="zh-TW" b="1" dirty="0" smtClean="0"/>
              <a:t>，使用</a:t>
            </a:r>
            <a:r>
              <a:rPr lang="en-US" altLang="zh-TW" b="1" dirty="0"/>
              <a:t>AES</a:t>
            </a:r>
            <a:r>
              <a:rPr lang="zh-TW" altLang="zh-TW" b="1" dirty="0"/>
              <a:t>和</a:t>
            </a:r>
            <a:r>
              <a:rPr lang="en-US" altLang="zh-TW" b="1" dirty="0"/>
              <a:t>RSA</a:t>
            </a:r>
            <a:r>
              <a:rPr lang="zh-TW" altLang="zh-TW" b="1" dirty="0"/>
              <a:t>演算法進行</a:t>
            </a:r>
            <a:r>
              <a:rPr lang="zh-TW" altLang="zh-TW" b="1" dirty="0" smtClean="0"/>
              <a:t>解密</a:t>
            </a:r>
            <a:r>
              <a:rPr lang="zh-TW" altLang="en-US" b="1" dirty="0" smtClean="0"/>
              <a:t>，</a:t>
            </a:r>
            <a:r>
              <a:rPr lang="zh-TW" altLang="zh-TW" b="1" dirty="0" smtClean="0"/>
              <a:t>步驟</a:t>
            </a:r>
            <a:r>
              <a:rPr lang="zh-TW" altLang="zh-TW" b="1" dirty="0"/>
              <a:t>如下</a:t>
            </a:r>
            <a:r>
              <a:rPr lang="zh-TW" altLang="zh-TW" b="1" dirty="0" smtClean="0"/>
              <a:t>：</a:t>
            </a:r>
            <a:endParaRPr lang="en-US" altLang="zh-TW" b="1" dirty="0" smtClean="0"/>
          </a:p>
          <a:p>
            <a:pPr>
              <a:buFont typeface="Wingdings" panose="05000000000000000000" pitchFamily="2" charset="2"/>
              <a:buChar char="Ø"/>
            </a:pPr>
            <a:endParaRPr lang="zh-TW" altLang="zh-TW" b="1" dirty="0"/>
          </a:p>
          <a:p>
            <a:pPr marL="457200" lvl="0" indent="-457200">
              <a:buFont typeface="+mj-lt"/>
              <a:buAutoNum type="alphaUcPeriod"/>
            </a:pPr>
            <a:r>
              <a:rPr lang="zh-TW" altLang="zh-TW" b="1" dirty="0"/>
              <a:t>讀取私</a:t>
            </a:r>
            <a:r>
              <a:rPr lang="zh-TW" altLang="zh-TW" b="1" dirty="0" smtClean="0"/>
              <a:t>鑰</a:t>
            </a:r>
            <a:endParaRPr lang="en-US" altLang="zh-TW" b="1" dirty="0" smtClean="0"/>
          </a:p>
          <a:p>
            <a:pPr marL="457200" lvl="0" indent="-457200">
              <a:buFont typeface="+mj-lt"/>
              <a:buAutoNum type="alphaUcPeriod"/>
            </a:pPr>
            <a:endParaRPr lang="zh-TW" altLang="zh-TW" b="1" dirty="0"/>
          </a:p>
          <a:p>
            <a:pPr marL="457200" lvl="0" indent="-457200">
              <a:buFont typeface="+mj-lt"/>
              <a:buAutoNum type="alphaUcPeriod"/>
            </a:pPr>
            <a:r>
              <a:rPr lang="zh-TW" altLang="zh-TW" b="1" dirty="0"/>
              <a:t>從加密文件中讀取數據和密</a:t>
            </a:r>
            <a:r>
              <a:rPr lang="zh-TW" altLang="zh-TW" b="1" dirty="0" smtClean="0"/>
              <a:t>鑰</a:t>
            </a:r>
            <a:endParaRPr lang="en-US" altLang="zh-TW" b="1" dirty="0" smtClean="0"/>
          </a:p>
          <a:p>
            <a:pPr marL="457200" lvl="0" indent="-457200">
              <a:buFont typeface="+mj-lt"/>
              <a:buAutoNum type="alphaUcPeriod"/>
            </a:pPr>
            <a:endParaRPr lang="zh-TW" altLang="zh-TW" b="1" dirty="0"/>
          </a:p>
          <a:p>
            <a:pPr marL="457200" lvl="0" indent="-457200">
              <a:buFont typeface="+mj-lt"/>
              <a:buAutoNum type="alphaUcPeriod"/>
            </a:pPr>
            <a:r>
              <a:rPr lang="zh-TW" altLang="zh-TW" b="1" dirty="0"/>
              <a:t>使用私鑰破解被加密的密</a:t>
            </a:r>
            <a:r>
              <a:rPr lang="zh-TW" altLang="zh-TW" b="1" dirty="0" smtClean="0"/>
              <a:t>鑰</a:t>
            </a:r>
            <a:endParaRPr lang="en-US" altLang="zh-TW" b="1" dirty="0" smtClean="0"/>
          </a:p>
          <a:p>
            <a:pPr marL="457200" lvl="0" indent="-457200">
              <a:buFont typeface="+mj-lt"/>
              <a:buAutoNum type="alphaUcPeriod"/>
            </a:pPr>
            <a:endParaRPr lang="zh-TW" altLang="zh-TW" b="1" dirty="0"/>
          </a:p>
          <a:p>
            <a:pPr marL="457200" lvl="0" indent="-457200">
              <a:buFont typeface="+mj-lt"/>
              <a:buAutoNum type="alphaUcPeriod"/>
            </a:pPr>
            <a:r>
              <a:rPr lang="zh-TW" altLang="zh-TW" b="1" dirty="0"/>
              <a:t>使用已解密的密鑰和</a:t>
            </a:r>
            <a:r>
              <a:rPr lang="en-US" altLang="zh-TW" b="1" dirty="0"/>
              <a:t>AES</a:t>
            </a:r>
            <a:r>
              <a:rPr lang="zh-TW" altLang="zh-TW" b="1" dirty="0"/>
              <a:t>演算法對被加密數據進行解</a:t>
            </a:r>
            <a:r>
              <a:rPr lang="zh-TW" altLang="zh-TW" b="1" dirty="0" smtClean="0"/>
              <a:t>密</a:t>
            </a:r>
            <a:endParaRPr lang="en-US" altLang="zh-TW" b="1" dirty="0" smtClean="0"/>
          </a:p>
          <a:p>
            <a:pPr marL="457200" lvl="0" indent="-457200">
              <a:buFont typeface="+mj-lt"/>
              <a:buAutoNum type="alphaUcPeriod"/>
            </a:pPr>
            <a:endParaRPr lang="zh-TW" altLang="zh-TW" b="1" dirty="0"/>
          </a:p>
          <a:p>
            <a:pPr marL="457200" lvl="0" indent="-457200">
              <a:buFont typeface="+mj-lt"/>
              <a:buAutoNum type="alphaUcPeriod"/>
            </a:pPr>
            <a:r>
              <a:rPr lang="zh-TW" altLang="zh-TW" b="1" dirty="0"/>
              <a:t>將解密後的數據保存，文件名會添加</a:t>
            </a:r>
            <a:r>
              <a:rPr lang="en-US" altLang="zh-TW" b="1" dirty="0"/>
              <a:t>".decrypted"</a:t>
            </a:r>
            <a:r>
              <a:rPr lang="zh-TW" altLang="zh-TW" b="1" dirty="0"/>
              <a:t>或</a:t>
            </a:r>
            <a:r>
              <a:rPr lang="en-US" altLang="zh-TW" b="1" dirty="0"/>
              <a:t>".txt"</a:t>
            </a:r>
            <a:r>
              <a:rPr lang="zh-TW" altLang="zh-TW" b="1" dirty="0"/>
              <a:t>自訂名</a:t>
            </a:r>
          </a:p>
          <a:p>
            <a:endParaRPr lang="zh-TW" altLang="en-US" dirty="0"/>
          </a:p>
        </p:txBody>
      </p:sp>
    </p:spTree>
    <p:extLst>
      <p:ext uri="{BB962C8B-B14F-4D97-AF65-F5344CB8AC3E}">
        <p14:creationId xmlns:p14="http://schemas.microsoft.com/office/powerpoint/2010/main" val="7919904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990000"/>
        </a:solidFill>
        <a:effectLst/>
      </p:bgPr>
    </p:bg>
    <p:spTree>
      <p:nvGrpSpPr>
        <p:cNvPr id="1" name=""/>
        <p:cNvGrpSpPr/>
        <p:nvPr/>
      </p:nvGrpSpPr>
      <p:grpSpPr>
        <a:xfrm>
          <a:off x="0" y="0"/>
          <a:ext cx="0" cy="0"/>
          <a:chOff x="0" y="0"/>
          <a:chExt cx="0" cy="0"/>
        </a:xfrm>
      </p:grpSpPr>
      <p:sp>
        <p:nvSpPr>
          <p:cNvPr id="2" name="標題 1"/>
          <p:cNvSpPr>
            <a:spLocks noGrp="1"/>
          </p:cNvSpPr>
          <p:nvPr>
            <p:ph type="ctrTitle"/>
          </p:nvPr>
        </p:nvSpPr>
        <p:spPr/>
        <p:txBody>
          <a:bodyPr/>
          <a:lstStyle/>
          <a:p>
            <a:r>
              <a:rPr lang="en-US" altLang="zh-TW" sz="9000" b="1" dirty="0" smtClean="0">
                <a:latin typeface="Times New Roman" panose="02020603050405020304" pitchFamily="18" charset="0"/>
                <a:ea typeface="+mn-ea"/>
                <a:cs typeface="Times New Roman" panose="02020603050405020304" pitchFamily="18" charset="0"/>
              </a:rPr>
              <a:t>DEMO</a:t>
            </a:r>
            <a:endParaRPr lang="en-US" altLang="zh-TW" sz="9000" b="1" dirty="0">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277026232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簡易實作勒索病毒Demo">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149352" y="118871"/>
            <a:ext cx="11856720" cy="6669405"/>
          </a:xfrm>
          <a:prstGeom prst="rect">
            <a:avLst/>
          </a:prstGeom>
        </p:spPr>
      </p:pic>
    </p:spTree>
    <p:extLst>
      <p:ext uri="{BB962C8B-B14F-4D97-AF65-F5344CB8AC3E}">
        <p14:creationId xmlns:p14="http://schemas.microsoft.com/office/powerpoint/2010/main" val="315191203"/>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6"/>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6"/>
                                        </p:tgtEl>
                                      </p:cBhvr>
                                    </p:cmd>
                                  </p:childTnLst>
                                </p:cTn>
                              </p:par>
                            </p:childTnLst>
                          </p:cTn>
                        </p:par>
                      </p:childTnLst>
                    </p:cTn>
                  </p:par>
                </p:childTnLst>
              </p:cTn>
              <p:nextCondLst>
                <p:cond evt="onClick" delay="0">
                  <p:tgtEl>
                    <p:spTgt spid="6"/>
                  </p:tgtEl>
                </p:cond>
              </p:nextCondLst>
            </p:seq>
            <p:video>
              <p:cMediaNode vol="80000">
                <p:cTn id="7" fill="hold" display="0">
                  <p:stCondLst>
                    <p:cond delay="indefinite"/>
                  </p:stCondLst>
                </p:cTn>
                <p:tgtEl>
                  <p:spTgt spid="6"/>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990000"/>
        </a:solidFill>
        <a:effectLst/>
      </p:bgPr>
    </p:bg>
    <p:spTree>
      <p:nvGrpSpPr>
        <p:cNvPr id="1" name=""/>
        <p:cNvGrpSpPr/>
        <p:nvPr/>
      </p:nvGrpSpPr>
      <p:grpSpPr>
        <a:xfrm>
          <a:off x="0" y="0"/>
          <a:ext cx="0" cy="0"/>
          <a:chOff x="0" y="0"/>
          <a:chExt cx="0" cy="0"/>
        </a:xfrm>
      </p:grpSpPr>
      <p:sp>
        <p:nvSpPr>
          <p:cNvPr id="2" name="標題 1"/>
          <p:cNvSpPr>
            <a:spLocks noGrp="1"/>
          </p:cNvSpPr>
          <p:nvPr>
            <p:ph type="ctrTitle"/>
          </p:nvPr>
        </p:nvSpPr>
        <p:spPr/>
        <p:txBody>
          <a:bodyPr/>
          <a:lstStyle/>
          <a:p>
            <a:r>
              <a:rPr lang="zh-TW" altLang="en-US" sz="9000" b="1" dirty="0" smtClean="0">
                <a:latin typeface="+mn-ea"/>
                <a:ea typeface="+mn-ea"/>
              </a:rPr>
              <a:t>結論</a:t>
            </a:r>
            <a:endParaRPr lang="zh-TW" altLang="en-US" sz="9000" b="1" dirty="0">
              <a:latin typeface="+mn-ea"/>
              <a:ea typeface="+mn-ea"/>
            </a:endParaRPr>
          </a:p>
        </p:txBody>
      </p:sp>
    </p:spTree>
    <p:extLst>
      <p:ext uri="{BB962C8B-B14F-4D97-AF65-F5344CB8AC3E}">
        <p14:creationId xmlns:p14="http://schemas.microsoft.com/office/powerpoint/2010/main" val="160727699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zh-TW" altLang="en-US" b="1" dirty="0" smtClean="0">
                <a:latin typeface="+mn-ea"/>
                <a:ea typeface="+mn-ea"/>
              </a:rPr>
              <a:t>結論</a:t>
            </a:r>
            <a:endParaRPr lang="zh-TW" altLang="en-US" b="1" dirty="0">
              <a:latin typeface="+mn-ea"/>
              <a:ea typeface="+mn-ea"/>
            </a:endParaRPr>
          </a:p>
        </p:txBody>
      </p:sp>
      <p:sp>
        <p:nvSpPr>
          <p:cNvPr id="3" name="內容版面配置區 2"/>
          <p:cNvSpPr>
            <a:spLocks noGrp="1"/>
          </p:cNvSpPr>
          <p:nvPr>
            <p:ph idx="1"/>
          </p:nvPr>
        </p:nvSpPr>
        <p:spPr>
          <a:xfrm>
            <a:off x="1251678" y="1600201"/>
            <a:ext cx="10178322" cy="5056631"/>
          </a:xfrm>
        </p:spPr>
        <p:txBody>
          <a:bodyPr>
            <a:normAutofit/>
          </a:bodyPr>
          <a:lstStyle/>
          <a:p>
            <a:pPr>
              <a:buFont typeface="Wingdings" panose="05000000000000000000" pitchFamily="2" charset="2"/>
              <a:buChar char="Ø"/>
            </a:pPr>
            <a:r>
              <a:rPr lang="zh-TW" altLang="zh-TW" b="1" dirty="0" smtClean="0"/>
              <a:t>勒索病毒</a:t>
            </a:r>
            <a:r>
              <a:rPr lang="zh-TW" altLang="en-US" b="1" dirty="0" smtClean="0"/>
              <a:t>可</a:t>
            </a:r>
            <a:r>
              <a:rPr lang="zh-TW" altLang="en-US" b="1" dirty="0"/>
              <a:t>能</a:t>
            </a:r>
            <a:r>
              <a:rPr lang="zh-TW" altLang="zh-TW" b="1" dirty="0" smtClean="0"/>
              <a:t>會</a:t>
            </a:r>
            <a:r>
              <a:rPr lang="zh-TW" altLang="zh-TW" b="1" dirty="0"/>
              <a:t>利用人性的</a:t>
            </a:r>
            <a:r>
              <a:rPr lang="zh-TW" altLang="zh-TW" b="1" dirty="0" smtClean="0"/>
              <a:t>疏失</a:t>
            </a:r>
            <a:r>
              <a:rPr lang="zh-TW" altLang="en-US" b="1" dirty="0" smtClean="0"/>
              <a:t>和惰性</a:t>
            </a:r>
            <a:r>
              <a:rPr lang="zh-TW" altLang="zh-TW" b="1" dirty="0" smtClean="0"/>
              <a:t>進行</a:t>
            </a:r>
            <a:r>
              <a:rPr lang="zh-TW" altLang="en-US" b="1" dirty="0" smtClean="0"/>
              <a:t>攻擊及</a:t>
            </a:r>
            <a:r>
              <a:rPr lang="zh-TW" altLang="zh-TW" b="1" dirty="0" smtClean="0"/>
              <a:t>勒索</a:t>
            </a:r>
            <a:endParaRPr lang="en-US" altLang="zh-TW" b="1" dirty="0" smtClean="0"/>
          </a:p>
          <a:p>
            <a:pPr>
              <a:buFont typeface="Wingdings" panose="05000000000000000000" pitchFamily="2" charset="2"/>
              <a:buChar char="Ø"/>
            </a:pPr>
            <a:endParaRPr lang="en-US" altLang="zh-TW" b="1" dirty="0" smtClean="0"/>
          </a:p>
          <a:p>
            <a:pPr>
              <a:buFont typeface="Wingdings" panose="05000000000000000000" pitchFamily="2" charset="2"/>
              <a:buChar char="Ø"/>
            </a:pPr>
            <a:r>
              <a:rPr lang="zh-TW" altLang="zh-TW" b="1" dirty="0" smtClean="0"/>
              <a:t>病毒會</a:t>
            </a:r>
            <a:r>
              <a:rPr lang="zh-TW" altLang="zh-TW" b="1" dirty="0"/>
              <a:t>隨著時間演進產生</a:t>
            </a:r>
            <a:r>
              <a:rPr lang="zh-TW" altLang="zh-TW" b="1" dirty="0" smtClean="0"/>
              <a:t>出</a:t>
            </a:r>
            <a:r>
              <a:rPr lang="zh-TW" altLang="en-US" b="1" dirty="0" smtClean="0"/>
              <a:t>新</a:t>
            </a:r>
            <a:r>
              <a:rPr lang="zh-TW" altLang="zh-TW" b="1" dirty="0" smtClean="0"/>
              <a:t>型</a:t>
            </a:r>
            <a:r>
              <a:rPr lang="zh-TW" altLang="zh-TW" b="1" dirty="0"/>
              <a:t>的病毒來對使用者構成資訊安全的</a:t>
            </a:r>
            <a:r>
              <a:rPr lang="zh-TW" altLang="zh-TW" b="1" dirty="0" smtClean="0"/>
              <a:t>威脅</a:t>
            </a:r>
            <a:endParaRPr lang="en-US" altLang="zh-TW" b="1" dirty="0" smtClean="0"/>
          </a:p>
          <a:p>
            <a:pPr>
              <a:buFont typeface="Wingdings" panose="05000000000000000000" pitchFamily="2" charset="2"/>
              <a:buChar char="Ø"/>
            </a:pPr>
            <a:endParaRPr lang="en-US" altLang="zh-TW" b="1" dirty="0" smtClean="0"/>
          </a:p>
          <a:p>
            <a:pPr>
              <a:buFont typeface="Wingdings" panose="05000000000000000000" pitchFamily="2" charset="2"/>
              <a:buChar char="Ø"/>
            </a:pPr>
            <a:r>
              <a:rPr lang="zh-TW" altLang="zh-TW" b="1" dirty="0" smtClean="0"/>
              <a:t>不予</a:t>
            </a:r>
            <a:r>
              <a:rPr lang="zh-TW" altLang="zh-TW" b="1" dirty="0"/>
              <a:t>理會來路不明的信件、不點擊不明連結</a:t>
            </a:r>
            <a:r>
              <a:rPr lang="zh-TW" altLang="zh-TW" b="1" dirty="0" smtClean="0"/>
              <a:t>、</a:t>
            </a:r>
            <a:r>
              <a:rPr lang="zh-TW" altLang="en-US" b="1" dirty="0" smtClean="0"/>
              <a:t>不</a:t>
            </a:r>
            <a:r>
              <a:rPr lang="zh-TW" altLang="en-US" b="1" dirty="0"/>
              <a:t>下載</a:t>
            </a:r>
            <a:r>
              <a:rPr lang="zh-TW" altLang="zh-TW" b="1" dirty="0" smtClean="0"/>
              <a:t>不</a:t>
            </a:r>
            <a:r>
              <a:rPr lang="zh-TW" altLang="zh-TW" b="1" dirty="0"/>
              <a:t>信任的文件及軟體</a:t>
            </a:r>
            <a:r>
              <a:rPr lang="zh-TW" altLang="zh-TW" b="1" dirty="0" smtClean="0"/>
              <a:t>等</a:t>
            </a:r>
            <a:endParaRPr lang="en-US" altLang="zh-TW" b="1" dirty="0" smtClean="0"/>
          </a:p>
          <a:p>
            <a:pPr>
              <a:buFont typeface="Wingdings" panose="05000000000000000000" pitchFamily="2" charset="2"/>
              <a:buChar char="Ø"/>
            </a:pPr>
            <a:endParaRPr lang="en-US" altLang="zh-TW" b="1" dirty="0" smtClean="0"/>
          </a:p>
          <a:p>
            <a:pPr>
              <a:buFont typeface="Wingdings" panose="05000000000000000000" pitchFamily="2" charset="2"/>
              <a:buChar char="Ø"/>
            </a:pPr>
            <a:r>
              <a:rPr lang="zh-TW" altLang="zh-TW" b="1" dirty="0" smtClean="0"/>
              <a:t>定期</a:t>
            </a:r>
            <a:r>
              <a:rPr lang="zh-TW" altLang="zh-TW" b="1" dirty="0"/>
              <a:t>更新防毒軟體，否則防毒軟體若沒有隨著新型病毒演進</a:t>
            </a:r>
            <a:r>
              <a:rPr lang="zh-TW" altLang="zh-TW" b="1" dirty="0" smtClean="0"/>
              <a:t>來更新提前</a:t>
            </a:r>
            <a:r>
              <a:rPr lang="zh-TW" altLang="en-US" b="1" dirty="0" smtClean="0"/>
              <a:t>防範</a:t>
            </a:r>
            <a:r>
              <a:rPr lang="zh-TW" altLang="zh-TW" b="1" dirty="0" smtClean="0"/>
              <a:t>，</a:t>
            </a:r>
            <a:r>
              <a:rPr lang="zh-TW" altLang="zh-TW" b="1" dirty="0"/>
              <a:t>很</a:t>
            </a:r>
            <a:r>
              <a:rPr lang="zh-TW" altLang="zh-TW" b="1" dirty="0" smtClean="0"/>
              <a:t>可能</a:t>
            </a:r>
            <a:r>
              <a:rPr lang="zh-TW" altLang="en-US" b="1" dirty="0" smtClean="0"/>
              <a:t>有心人士會透過勒索</a:t>
            </a:r>
            <a:r>
              <a:rPr lang="zh-TW" altLang="zh-TW" b="1" dirty="0" smtClean="0"/>
              <a:t>病毒</a:t>
            </a:r>
            <a:r>
              <a:rPr lang="zh-TW" altLang="en-US" b="1" dirty="0"/>
              <a:t>藉</a:t>
            </a:r>
            <a:r>
              <a:rPr lang="zh-TW" altLang="en-US" b="1" dirty="0" smtClean="0"/>
              <a:t>由存在的</a:t>
            </a:r>
            <a:r>
              <a:rPr lang="zh-TW" altLang="zh-TW" b="1" dirty="0" smtClean="0"/>
              <a:t>漏洞</a:t>
            </a:r>
            <a:r>
              <a:rPr lang="zh-TW" altLang="zh-TW" b="1" dirty="0"/>
              <a:t>進行</a:t>
            </a:r>
            <a:r>
              <a:rPr lang="zh-TW" altLang="zh-TW" b="1" dirty="0" smtClean="0"/>
              <a:t>攻擊</a:t>
            </a:r>
            <a:r>
              <a:rPr lang="zh-TW" altLang="en-US" b="1" dirty="0" smtClean="0"/>
              <a:t>，促使使用者電腦癱瘓或重要檔案被加密，以便</a:t>
            </a:r>
            <a:r>
              <a:rPr lang="zh-TW" altLang="en-US" b="1" dirty="0" smtClean="0"/>
              <a:t>向</a:t>
            </a:r>
            <a:r>
              <a:rPr lang="zh-TW" altLang="en-US" b="1" dirty="0" smtClean="0"/>
              <a:t>使用者</a:t>
            </a:r>
            <a:r>
              <a:rPr lang="zh-TW" altLang="en-US" b="1" dirty="0"/>
              <a:t>進行</a:t>
            </a:r>
            <a:r>
              <a:rPr lang="zh-TW" altLang="zh-TW" b="1" dirty="0" smtClean="0"/>
              <a:t>勒索</a:t>
            </a:r>
            <a:endParaRPr lang="zh-TW" altLang="en-US" b="1" dirty="0"/>
          </a:p>
        </p:txBody>
      </p:sp>
    </p:spTree>
    <p:extLst>
      <p:ext uri="{BB962C8B-B14F-4D97-AF65-F5344CB8AC3E}">
        <p14:creationId xmlns:p14="http://schemas.microsoft.com/office/powerpoint/2010/main" val="23008248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zh-TW" altLang="en-US" b="1" dirty="0" smtClean="0">
                <a:latin typeface="+mn-ea"/>
                <a:ea typeface="+mn-ea"/>
              </a:rPr>
              <a:t>參考資料</a:t>
            </a:r>
            <a:endParaRPr lang="zh-TW" altLang="en-US" b="1" dirty="0">
              <a:latin typeface="+mn-ea"/>
              <a:ea typeface="+mn-ea"/>
            </a:endParaRPr>
          </a:p>
        </p:txBody>
      </p:sp>
      <p:sp>
        <p:nvSpPr>
          <p:cNvPr id="3" name="內容版面配置區 2"/>
          <p:cNvSpPr>
            <a:spLocks noGrp="1"/>
          </p:cNvSpPr>
          <p:nvPr>
            <p:ph idx="1"/>
          </p:nvPr>
        </p:nvSpPr>
        <p:spPr>
          <a:xfrm>
            <a:off x="1251678" y="1600201"/>
            <a:ext cx="10178322" cy="5056631"/>
          </a:xfrm>
        </p:spPr>
        <p:txBody>
          <a:bodyPr>
            <a:normAutofit/>
          </a:bodyPr>
          <a:lstStyle/>
          <a:p>
            <a:pPr marL="0" indent="0">
              <a:buNone/>
            </a:pPr>
            <a:r>
              <a:rPr lang="en-US" altLang="zh-TW" dirty="0"/>
              <a:t>[1]	</a:t>
            </a:r>
            <a:r>
              <a:rPr lang="en-US" altLang="zh-TW" u="sng" dirty="0">
                <a:hlinkClick r:id="rId2"/>
              </a:rPr>
              <a:t>https://ithelp.ithome.com.tw/m/articles/10254342</a:t>
            </a:r>
            <a:endParaRPr lang="zh-TW" altLang="zh-TW" dirty="0"/>
          </a:p>
          <a:p>
            <a:pPr marL="0" indent="0">
              <a:buNone/>
            </a:pPr>
            <a:r>
              <a:rPr lang="en-US" altLang="zh-TW" dirty="0"/>
              <a:t>[2]	</a:t>
            </a:r>
            <a:r>
              <a:rPr lang="en-US" altLang="zh-TW" u="sng" dirty="0">
                <a:hlinkClick r:id="rId3"/>
              </a:rPr>
              <a:t>https://infosecwriteups.com/how-to-make-a-ransomware-with-python-c4764f2014cf</a:t>
            </a:r>
            <a:endParaRPr lang="zh-TW" altLang="zh-TW" dirty="0"/>
          </a:p>
          <a:p>
            <a:pPr marL="0" indent="0">
              <a:buNone/>
            </a:pPr>
            <a:r>
              <a:rPr lang="en-US" altLang="zh-TW" dirty="0"/>
              <a:t>[3]	</a:t>
            </a:r>
            <a:r>
              <a:rPr lang="en-US" altLang="zh-TW" u="sng" dirty="0">
                <a:hlinkClick r:id="rId4"/>
              </a:rPr>
              <a:t>https://www.youtube.com/watch?v=YcEotl3Jo_g</a:t>
            </a:r>
            <a:endParaRPr lang="zh-TW" altLang="zh-TW" dirty="0"/>
          </a:p>
          <a:p>
            <a:pPr marL="0" indent="0">
              <a:buNone/>
            </a:pPr>
            <a:r>
              <a:rPr lang="en-US" altLang="zh-TW" dirty="0"/>
              <a:t>[4]	</a:t>
            </a:r>
            <a:r>
              <a:rPr lang="en-US" altLang="zh-TW" u="sng" dirty="0">
                <a:hlinkClick r:id="rId5"/>
              </a:rPr>
              <a:t>https://www.trendmicro.com/zh_tw/what-is/ransomware.html</a:t>
            </a:r>
            <a:endParaRPr lang="zh-TW" altLang="zh-TW" dirty="0"/>
          </a:p>
          <a:p>
            <a:pPr marL="0" indent="0">
              <a:buNone/>
            </a:pPr>
            <a:r>
              <a:rPr lang="en-US" altLang="zh-TW" dirty="0"/>
              <a:t>[5]	</a:t>
            </a:r>
            <a:r>
              <a:rPr lang="en-US" altLang="zh-TW" u="sng" dirty="0">
                <a:hlinkClick r:id="rId6"/>
              </a:rPr>
              <a:t>https://www.cc.ntu.edu.tw/chinese/epaper/0038/20160920_3807.html</a:t>
            </a:r>
            <a:endParaRPr lang="zh-TW" altLang="zh-TW" dirty="0"/>
          </a:p>
          <a:p>
            <a:pPr marL="0" indent="0">
              <a:buNone/>
            </a:pPr>
            <a:r>
              <a:rPr lang="en-US" altLang="zh-TW" dirty="0"/>
              <a:t>[6]	</a:t>
            </a:r>
            <a:r>
              <a:rPr lang="en-US" altLang="zh-TW" u="sng" dirty="0">
                <a:hlinkClick r:id="rId7"/>
              </a:rPr>
              <a:t>https://github.com/febimudiyanto/python-project/tree/main/simple-ransomware</a:t>
            </a:r>
            <a:endParaRPr lang="zh-TW" altLang="zh-TW" dirty="0"/>
          </a:p>
          <a:p>
            <a:pPr marL="0" indent="0">
              <a:buNone/>
            </a:pPr>
            <a:r>
              <a:rPr lang="en-US" altLang="zh-TW" dirty="0"/>
              <a:t>[7] 	</a:t>
            </a:r>
            <a:r>
              <a:rPr lang="en-US" altLang="zh-TW" u="sng" dirty="0">
                <a:hlinkClick r:id="rId8"/>
              </a:rPr>
              <a:t>https://applealmond.com/posts/5171</a:t>
            </a:r>
            <a:endParaRPr lang="zh-TW" altLang="zh-TW" dirty="0"/>
          </a:p>
          <a:p>
            <a:pPr marL="0" indent="0">
              <a:buNone/>
            </a:pPr>
            <a:r>
              <a:rPr lang="en-US" altLang="zh-TW" dirty="0"/>
              <a:t>[8]	</a:t>
            </a:r>
            <a:r>
              <a:rPr lang="en-US" altLang="zh-TW" u="sng" dirty="0">
                <a:hlinkClick r:id="rId9"/>
              </a:rPr>
              <a:t>https://ithelp.ithome.com.tw/articles/10311598</a:t>
            </a:r>
            <a:endParaRPr lang="zh-TW" altLang="zh-TW" dirty="0"/>
          </a:p>
          <a:p>
            <a:pPr marL="0" indent="0">
              <a:buNone/>
            </a:pPr>
            <a:r>
              <a:rPr lang="en-US" altLang="zh-TW" dirty="0"/>
              <a:t>[9]	</a:t>
            </a:r>
            <a:r>
              <a:rPr lang="en-US" altLang="zh-TW" u="sng" dirty="0">
                <a:hlinkClick r:id="rId5"/>
              </a:rPr>
              <a:t>https://www.trendmicro.com/zh_tw/what-is/ransomware.html</a:t>
            </a:r>
            <a:endParaRPr lang="zh-TW" altLang="zh-TW" dirty="0"/>
          </a:p>
          <a:p>
            <a:pPr marL="0" indent="0">
              <a:buNone/>
            </a:pPr>
            <a:r>
              <a:rPr lang="en-US" altLang="zh-TW" dirty="0"/>
              <a:t>[10]	</a:t>
            </a:r>
            <a:r>
              <a:rPr lang="en-US" altLang="zh-TW" u="sng" dirty="0">
                <a:hlinkClick r:id="rId10"/>
              </a:rPr>
              <a:t>https://zonetech.tw/blogs/what-is-ransomware/</a:t>
            </a:r>
            <a:endParaRPr lang="zh-TW" altLang="zh-TW" dirty="0"/>
          </a:p>
          <a:p>
            <a:pPr marL="0" indent="0">
              <a:buNone/>
            </a:pPr>
            <a:r>
              <a:rPr lang="en-US" altLang="zh-TW" dirty="0"/>
              <a:t>[11]	</a:t>
            </a:r>
            <a:r>
              <a:rPr lang="en-US" altLang="zh-TW" u="sng" dirty="0">
                <a:hlinkClick r:id="rId11"/>
              </a:rPr>
              <a:t>https://ess.site.nthu.edu.tw/p/404-1351-118887.php?Lang=zh-tw</a:t>
            </a:r>
            <a:endParaRPr lang="zh-TW" altLang="zh-TW" dirty="0"/>
          </a:p>
          <a:p>
            <a:pPr marL="0" indent="0">
              <a:buNone/>
            </a:pPr>
            <a:endParaRPr lang="zh-TW" altLang="zh-TW" dirty="0"/>
          </a:p>
        </p:txBody>
      </p:sp>
    </p:spTree>
    <p:extLst>
      <p:ext uri="{BB962C8B-B14F-4D97-AF65-F5344CB8AC3E}">
        <p14:creationId xmlns:p14="http://schemas.microsoft.com/office/powerpoint/2010/main" val="25606646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990000"/>
        </a:solidFill>
        <a:effectLst/>
      </p:bgPr>
    </p:bg>
    <p:spTree>
      <p:nvGrpSpPr>
        <p:cNvPr id="1" name=""/>
        <p:cNvGrpSpPr/>
        <p:nvPr/>
      </p:nvGrpSpPr>
      <p:grpSpPr>
        <a:xfrm>
          <a:off x="0" y="0"/>
          <a:ext cx="0" cy="0"/>
          <a:chOff x="0" y="0"/>
          <a:chExt cx="0" cy="0"/>
        </a:xfrm>
      </p:grpSpPr>
      <p:sp>
        <p:nvSpPr>
          <p:cNvPr id="2" name="標題 1"/>
          <p:cNvSpPr>
            <a:spLocks noGrp="1"/>
          </p:cNvSpPr>
          <p:nvPr>
            <p:ph type="ctrTitle"/>
          </p:nvPr>
        </p:nvSpPr>
        <p:spPr/>
        <p:txBody>
          <a:bodyPr/>
          <a:lstStyle/>
          <a:p>
            <a:r>
              <a:rPr lang="en-US" altLang="zh-CN" sz="9000" b="1" dirty="0">
                <a:solidFill>
                  <a:schemeClr val="tx1">
                    <a:lumMod val="85000"/>
                    <a:lumOff val="15000"/>
                  </a:schemeClr>
                </a:solidFill>
                <a:latin typeface="Times New Roman" panose="02020603050405020304" pitchFamily="18" charset="0"/>
                <a:ea typeface="方正正纤黑简体" panose="02000000000000000000" pitchFamily="2" charset="-122"/>
                <a:cs typeface="Times New Roman" panose="02020603050405020304" pitchFamily="18" charset="0"/>
              </a:rPr>
              <a:t>Thanks</a:t>
            </a:r>
            <a:endParaRPr lang="zh-TW" altLang="en-US" sz="9000" b="1" dirty="0">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1578864645"/>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theme/theme1.xml><?xml version="1.0" encoding="utf-8"?>
<a:theme xmlns:a="http://schemas.openxmlformats.org/drawingml/2006/main" name="Badge">
  <a:themeElements>
    <a:clrScheme name="Badge">
      <a:dk1>
        <a:sysClr val="windowText" lastClr="000000"/>
      </a:dk1>
      <a:lt1>
        <a:sysClr val="window" lastClr="FFFFFF"/>
      </a:lt1>
      <a:dk2>
        <a:srgbClr val="2A1A00"/>
      </a:dk2>
      <a:lt2>
        <a:srgbClr val="F3F3F2"/>
      </a:lt2>
      <a:accent1>
        <a:srgbClr val="F8B323"/>
      </a:accent1>
      <a:accent2>
        <a:srgbClr val="656A59"/>
      </a:accent2>
      <a:accent3>
        <a:srgbClr val="46B2B5"/>
      </a:accent3>
      <a:accent4>
        <a:srgbClr val="8CAA7E"/>
      </a:accent4>
      <a:accent5>
        <a:srgbClr val="D36F68"/>
      </a:accent5>
      <a:accent6>
        <a:srgbClr val="826276"/>
      </a:accent6>
      <a:hlink>
        <a:srgbClr val="46B2B5"/>
      </a:hlink>
      <a:folHlink>
        <a:srgbClr val="A46694"/>
      </a:folHlink>
    </a:clrScheme>
    <a:fontScheme name="Badge">
      <a:majorFont>
        <a:latin typeface="Impact" panose="020B080603090205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ill Sans MT" panose="020B0502020104020203"/>
        <a:ea typeface=""/>
        <a:cs typeface=""/>
        <a:font script="Grek" typeface="Corbel"/>
        <a:font script="Cyrl" typeface="Corbel"/>
        <a:font script="Jpan" typeface="メイリオ"/>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Badg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12700" cap="flat" cmpd="sng" algn="in">
          <a:solidFill>
            <a:schemeClr val="phClr"/>
          </a:solidFill>
          <a:prstDash val="solid"/>
        </a:ln>
        <a:ln w="50800" cap="flat" cmpd="sng" algn="in">
          <a:solidFill>
            <a:schemeClr val="phClr"/>
          </a:solidFill>
          <a:prstDash val="solid"/>
        </a:ln>
      </a:lnStyleLst>
      <a:effectStyleLst>
        <a:effectStyle>
          <a:effectLst/>
        </a:effectStyle>
        <a:effectStyle>
          <a:effectLst/>
        </a:effectStyle>
        <a:effectStyle>
          <a:effectLst>
            <a:outerShdw blurRad="38100" dist="25400" dir="5400000" algn="ctr" rotWithShape="0">
              <a:srgbClr val="000000">
                <a:alpha val="2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adge" id="{71A07785-5930-41D4-9A83-E23602B48E98}" vid="{771EA782-DFA6-45B1-AEA3-661F1715B310}"/>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徽章</Template>
  <TotalTime>206</TotalTime>
  <Words>597</Words>
  <Application>Microsoft Office PowerPoint</Application>
  <PresentationFormat>寬螢幕</PresentationFormat>
  <Paragraphs>92</Paragraphs>
  <Slides>17</Slides>
  <Notes>0</Notes>
  <HiddenSlides>0</HiddenSlides>
  <MMClips>1</MMClips>
  <ScaleCrop>false</ScaleCrop>
  <HeadingPairs>
    <vt:vector size="6" baseType="variant">
      <vt:variant>
        <vt:lpstr>使用字型</vt:lpstr>
      </vt:variant>
      <vt:variant>
        <vt:i4>9</vt:i4>
      </vt:variant>
      <vt:variant>
        <vt:lpstr>佈景主題</vt:lpstr>
      </vt:variant>
      <vt:variant>
        <vt:i4>1</vt:i4>
      </vt:variant>
      <vt:variant>
        <vt:lpstr>投影片標題</vt:lpstr>
      </vt:variant>
      <vt:variant>
        <vt:i4>17</vt:i4>
      </vt:variant>
    </vt:vector>
  </HeadingPairs>
  <TitlesOfParts>
    <vt:vector size="27" baseType="lpstr">
      <vt:lpstr>方正正纤黑简体</vt:lpstr>
      <vt:lpstr>微軟正黑體</vt:lpstr>
      <vt:lpstr>新細明體</vt:lpstr>
      <vt:lpstr>Arial</vt:lpstr>
      <vt:lpstr>Calibri</vt:lpstr>
      <vt:lpstr>Gill Sans MT</vt:lpstr>
      <vt:lpstr>Impact</vt:lpstr>
      <vt:lpstr>Times New Roman</vt:lpstr>
      <vt:lpstr>Wingdings</vt:lpstr>
      <vt:lpstr>Badge</vt:lpstr>
      <vt:lpstr>簡易實作 勒索病毒</vt:lpstr>
      <vt:lpstr>目錄</vt:lpstr>
      <vt:lpstr>介紹</vt:lpstr>
      <vt:lpstr>何謂勒索病毒？ </vt:lpstr>
      <vt:lpstr>虛擬 環境</vt:lpstr>
      <vt:lpstr>虛擬機環境</vt:lpstr>
      <vt:lpstr>虛擬機優缺點</vt:lpstr>
      <vt:lpstr>實作 探討</vt:lpstr>
      <vt:lpstr>Part I. 生成RSA 密鑰</vt:lpstr>
      <vt:lpstr>Part II.加密演算法進行加密文件</vt:lpstr>
      <vt:lpstr>Part III. 解密被加密的文件</vt:lpstr>
      <vt:lpstr>DEMO</vt:lpstr>
      <vt:lpstr>PowerPoint 簡報</vt:lpstr>
      <vt:lpstr>結論</vt:lpstr>
      <vt:lpstr>結論</vt:lpstr>
      <vt:lpstr>參考資料</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勒索病毒</dc:title>
  <dc:creator>郭宇倫</dc:creator>
  <cp:lastModifiedBy>BiBi</cp:lastModifiedBy>
  <cp:revision>37</cp:revision>
  <dcterms:created xsi:type="dcterms:W3CDTF">2023-03-12T11:12:29Z</dcterms:created>
  <dcterms:modified xsi:type="dcterms:W3CDTF">2023-05-26T15:13:09Z</dcterms:modified>
</cp:coreProperties>
</file>