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57" r:id="rId3"/>
    <p:sldId id="259" r:id="rId4"/>
    <p:sldId id="258" r:id="rId5"/>
    <p:sldId id="260" r:id="rId6"/>
    <p:sldId id="264" r:id="rId7"/>
    <p:sldId id="266" r:id="rId8"/>
    <p:sldId id="265" r:id="rId9"/>
    <p:sldId id="261" r:id="rId10"/>
    <p:sldId id="276" r:id="rId11"/>
    <p:sldId id="277" r:id="rId12"/>
    <p:sldId id="278" r:id="rId13"/>
    <p:sldId id="279" r:id="rId14"/>
    <p:sldId id="262" r:id="rId15"/>
    <p:sldId id="280" r:id="rId16"/>
    <p:sldId id="263" r:id="rId17"/>
    <p:sldId id="281" r:id="rId18"/>
    <p:sldId id="28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40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E867A-0BF3-46AF-B4B5-D2FDD10C7342}" type="datetimeFigureOut">
              <a:rPr lang="zh-TW" altLang="en-US" smtClean="0"/>
              <a:t>2023/5/1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8089A6-5AD0-4DC8-89E1-C98D041FE41D}" type="slidenum">
              <a:rPr lang="zh-TW" altLang="en-US" smtClean="0"/>
              <a:t>‹#›</a:t>
            </a:fld>
            <a:endParaRPr lang="zh-TW" altLang="en-US"/>
          </a:p>
        </p:txBody>
      </p:sp>
    </p:spTree>
    <p:extLst>
      <p:ext uri="{BB962C8B-B14F-4D97-AF65-F5344CB8AC3E}">
        <p14:creationId xmlns:p14="http://schemas.microsoft.com/office/powerpoint/2010/main" val="4013553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zh-TW" altLang="en-US"/>
              <a:t>按一下以編輯母片標題樣式</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5/1/2023</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5/1/2023</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5/1/2023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257300" y="2909102"/>
            <a:ext cx="4800600" cy="299639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633864" y="2909102"/>
            <a:ext cx="4800600" cy="299639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5/1/2023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5/1/2023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5/1/2023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zh-TW" altLang="en-US"/>
              <a:t>按一下以編輯母片標題樣式</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5/1/2023</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5/1/2023</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5/1/2023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5/1/2023</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latin typeface="+mn-ea"/>
                <a:ea typeface="+mn-ea"/>
              </a:rPr>
              <a:t>勒索病毒</a:t>
            </a:r>
            <a:endParaRPr lang="zh-TW" altLang="en-US" dirty="0">
              <a:latin typeface="+mn-ea"/>
              <a:ea typeface="+mn-ea"/>
            </a:endParaRPr>
          </a:p>
        </p:txBody>
      </p:sp>
      <p:sp>
        <p:nvSpPr>
          <p:cNvPr id="3" name="副標題 2"/>
          <p:cNvSpPr>
            <a:spLocks noGrp="1"/>
          </p:cNvSpPr>
          <p:nvPr>
            <p:ph type="subTitle" idx="1"/>
          </p:nvPr>
        </p:nvSpPr>
        <p:spPr>
          <a:xfrm>
            <a:off x="2215045" y="5938576"/>
            <a:ext cx="8045373" cy="782900"/>
          </a:xfrm>
        </p:spPr>
        <p:txBody>
          <a:bodyPr>
            <a:normAutofit fontScale="70000" lnSpcReduction="20000"/>
          </a:bodyPr>
          <a:lstStyle/>
          <a:p>
            <a:r>
              <a:rPr lang="zh-TW" altLang="en-US" dirty="0">
                <a:solidFill>
                  <a:schemeClr val="bg1"/>
                </a:solidFill>
                <a:latin typeface="+mn-ea"/>
              </a:rPr>
              <a:t>資工四 </a:t>
            </a:r>
            <a:r>
              <a:rPr lang="en-US" altLang="zh-TW" dirty="0">
                <a:solidFill>
                  <a:schemeClr val="bg1"/>
                </a:solidFill>
                <a:latin typeface="+mn-ea"/>
              </a:rPr>
              <a:t>S10859050</a:t>
            </a:r>
            <a:r>
              <a:rPr lang="zh-TW" altLang="en-US" dirty="0">
                <a:solidFill>
                  <a:schemeClr val="bg1"/>
                </a:solidFill>
                <a:latin typeface="+mn-ea"/>
              </a:rPr>
              <a:t> 郭宇倫</a:t>
            </a:r>
            <a:endParaRPr lang="en-US" altLang="zh-TW" dirty="0">
              <a:solidFill>
                <a:schemeClr val="bg1"/>
              </a:solidFill>
              <a:latin typeface="+mn-ea"/>
            </a:endParaRPr>
          </a:p>
          <a:p>
            <a:r>
              <a:rPr lang="zh-TW" altLang="en-US" dirty="0">
                <a:solidFill>
                  <a:schemeClr val="bg1"/>
                </a:solidFill>
                <a:latin typeface="+mn-ea"/>
              </a:rPr>
              <a:t>資工四 </a:t>
            </a:r>
            <a:r>
              <a:rPr lang="en-US" altLang="zh-TW" dirty="0">
                <a:solidFill>
                  <a:schemeClr val="bg1"/>
                </a:solidFill>
                <a:latin typeface="+mn-ea"/>
              </a:rPr>
              <a:t>S10859045</a:t>
            </a:r>
            <a:r>
              <a:rPr lang="zh-TW" altLang="en-US" dirty="0">
                <a:solidFill>
                  <a:schemeClr val="bg1"/>
                </a:solidFill>
                <a:latin typeface="+mn-ea"/>
              </a:rPr>
              <a:t> 呂建篁</a:t>
            </a:r>
            <a:endParaRPr lang="en-US" altLang="zh-TW" dirty="0">
              <a:solidFill>
                <a:schemeClr val="bg1"/>
              </a:solidFill>
              <a:latin typeface="+mn-ea"/>
            </a:endParaRPr>
          </a:p>
          <a:p>
            <a:r>
              <a:rPr lang="zh-TW" altLang="en-US" dirty="0">
                <a:solidFill>
                  <a:schemeClr val="bg1"/>
                </a:solidFill>
                <a:latin typeface="+mn-ea"/>
              </a:rPr>
              <a:t>資工四 </a:t>
            </a:r>
            <a:r>
              <a:rPr lang="en-US" altLang="zh-TW" dirty="0">
                <a:solidFill>
                  <a:schemeClr val="bg1"/>
                </a:solidFill>
                <a:latin typeface="+mn-ea"/>
              </a:rPr>
              <a:t>S10859048</a:t>
            </a:r>
            <a:r>
              <a:rPr lang="zh-TW" altLang="en-US" dirty="0">
                <a:solidFill>
                  <a:schemeClr val="bg1"/>
                </a:solidFill>
                <a:latin typeface="+mn-ea"/>
              </a:rPr>
              <a:t> 陳睦善</a:t>
            </a:r>
          </a:p>
        </p:txBody>
      </p:sp>
    </p:spTree>
    <p:extLst>
      <p:ext uri="{BB962C8B-B14F-4D97-AF65-F5344CB8AC3E}">
        <p14:creationId xmlns:p14="http://schemas.microsoft.com/office/powerpoint/2010/main" val="15666592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目錄</a:t>
            </a:r>
          </a:p>
        </p:txBody>
      </p:sp>
      <p:sp>
        <p:nvSpPr>
          <p:cNvPr id="3" name="內容版面配置區 2"/>
          <p:cNvSpPr>
            <a:spLocks noGrp="1"/>
          </p:cNvSpPr>
          <p:nvPr>
            <p:ph idx="1"/>
          </p:nvPr>
        </p:nvSpPr>
        <p:spPr>
          <a:xfrm>
            <a:off x="1873188" y="1731146"/>
            <a:ext cx="9556812" cy="5126853"/>
          </a:xfrm>
        </p:spPr>
        <p:txBody>
          <a:bodyPr>
            <a:noAutofit/>
          </a:bodyPr>
          <a:lstStyle/>
          <a:p>
            <a:pPr marL="742950" indent="-742950">
              <a:buFont typeface="+mj-lt"/>
              <a:buAutoNum type="arabicPeriod"/>
            </a:pPr>
            <a:r>
              <a:rPr lang="zh-TW" altLang="en-US" sz="4000" b="1" dirty="0">
                <a:solidFill>
                  <a:schemeClr val="tx1"/>
                </a:solidFill>
                <a:latin typeface="+mn-ea"/>
              </a:rPr>
              <a:t>介紹</a:t>
            </a:r>
            <a:endParaRPr lang="en-US" altLang="zh-TW" sz="4000" b="1" dirty="0">
              <a:solidFill>
                <a:schemeClr val="tx1"/>
              </a:solidFill>
              <a:latin typeface="+mn-ea"/>
            </a:endParaRPr>
          </a:p>
          <a:p>
            <a:pPr marL="742950" indent="-742950">
              <a:buFont typeface="+mj-lt"/>
              <a:buAutoNum type="arabicPeriod"/>
            </a:pPr>
            <a:r>
              <a:rPr lang="zh-TW" altLang="en-US" sz="4000" b="1" dirty="0">
                <a:solidFill>
                  <a:schemeClr val="tx1"/>
                </a:solidFill>
                <a:latin typeface="+mn-ea"/>
              </a:rPr>
              <a:t>目標</a:t>
            </a:r>
            <a:endParaRPr lang="en-US" altLang="zh-TW" sz="4000" b="1" dirty="0">
              <a:solidFill>
                <a:schemeClr val="tx1"/>
              </a:solidFill>
              <a:latin typeface="+mn-ea"/>
            </a:endParaRPr>
          </a:p>
          <a:p>
            <a:pPr marL="742950" indent="-742950">
              <a:buFont typeface="+mj-lt"/>
              <a:buAutoNum type="arabicPeriod"/>
            </a:pPr>
            <a:r>
              <a:rPr lang="zh-TW" altLang="en-US" sz="4000" b="1" dirty="0">
                <a:solidFill>
                  <a:schemeClr val="tx1"/>
                </a:solidFill>
                <a:latin typeface="+mn-ea"/>
              </a:rPr>
              <a:t>類型</a:t>
            </a:r>
            <a:endParaRPr lang="en-US" altLang="zh-TW" sz="4000" b="1" dirty="0">
              <a:solidFill>
                <a:schemeClr val="tx1"/>
              </a:solidFill>
              <a:latin typeface="+mn-ea"/>
            </a:endParaRPr>
          </a:p>
          <a:p>
            <a:pPr marL="742950" indent="-742950">
              <a:buFont typeface="+mj-lt"/>
              <a:buAutoNum type="arabicPeriod"/>
            </a:pPr>
            <a:r>
              <a:rPr lang="zh-TW" altLang="en-US" sz="4000" b="1" dirty="0">
                <a:solidFill>
                  <a:schemeClr val="tx1"/>
                </a:solidFill>
                <a:latin typeface="+mn-ea"/>
              </a:rPr>
              <a:t>防範</a:t>
            </a:r>
            <a:endParaRPr lang="en-US" altLang="zh-TW" sz="4000" b="1" dirty="0">
              <a:solidFill>
                <a:schemeClr val="tx1"/>
              </a:solidFill>
              <a:latin typeface="+mn-ea"/>
            </a:endParaRPr>
          </a:p>
          <a:p>
            <a:pPr marL="742950" indent="-742950">
              <a:buFont typeface="+mj-lt"/>
              <a:buAutoNum type="arabicPeriod"/>
            </a:pPr>
            <a:r>
              <a:rPr lang="zh-TW" altLang="en-US" sz="4000" b="1" dirty="0">
                <a:solidFill>
                  <a:schemeClr val="tx1"/>
                </a:solidFill>
                <a:latin typeface="+mn-ea"/>
              </a:rPr>
              <a:t>衝擊</a:t>
            </a:r>
          </a:p>
        </p:txBody>
      </p:sp>
      <p:pic>
        <p:nvPicPr>
          <p:cNvPr id="6" name="圖片 5"/>
          <p:cNvPicPr>
            <a:picLocks noChangeAspect="1"/>
          </p:cNvPicPr>
          <p:nvPr/>
        </p:nvPicPr>
        <p:blipFill rotWithShape="1">
          <a:blip r:embed="rId2"/>
          <a:srcRect r="29084"/>
          <a:stretch/>
        </p:blipFill>
        <p:spPr>
          <a:xfrm>
            <a:off x="4910832" y="0"/>
            <a:ext cx="7281168" cy="6858000"/>
          </a:xfrm>
          <a:prstGeom prst="rect">
            <a:avLst/>
          </a:prstGeom>
        </p:spPr>
      </p:pic>
    </p:spTree>
    <p:extLst>
      <p:ext uri="{BB962C8B-B14F-4D97-AF65-F5344CB8AC3E}">
        <p14:creationId xmlns:p14="http://schemas.microsoft.com/office/powerpoint/2010/main" val="25488601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latin typeface="+mn-ea"/>
                <a:ea typeface="+mn-ea"/>
              </a:rPr>
              <a:t>介紹</a:t>
            </a:r>
            <a:endParaRPr lang="en-US" altLang="zh-TW" b="1" dirty="0">
              <a:latin typeface="+mn-ea"/>
              <a:ea typeface="+mn-ea"/>
            </a:endParaRP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229482739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何謂勒索病毒？</a:t>
            </a:r>
            <a:br>
              <a:rPr lang="zh-TW" altLang="en-US" b="1" dirty="0"/>
            </a:br>
            <a:endParaRPr lang="zh-TW" altLang="en-US" dirty="0"/>
          </a:p>
        </p:txBody>
      </p:sp>
      <p:sp>
        <p:nvSpPr>
          <p:cNvPr id="3" name="內容版面配置區 2"/>
          <p:cNvSpPr>
            <a:spLocks noGrp="1"/>
          </p:cNvSpPr>
          <p:nvPr>
            <p:ph idx="1"/>
          </p:nvPr>
        </p:nvSpPr>
        <p:spPr>
          <a:xfrm>
            <a:off x="1251678" y="2286001"/>
            <a:ext cx="3426854" cy="4571999"/>
          </a:xfrm>
        </p:spPr>
        <p:txBody>
          <a:bodyPr>
            <a:normAutofit/>
          </a:bodyPr>
          <a:lstStyle/>
          <a:p>
            <a:pPr marL="0" indent="0">
              <a:buNone/>
            </a:pPr>
            <a:r>
              <a:rPr lang="zh-TW" altLang="en-US" b="1" dirty="0">
                <a:solidFill>
                  <a:schemeClr val="tx1"/>
                </a:solidFill>
                <a:latin typeface="+mn-ea"/>
              </a:rPr>
              <a:t>勒索病毒是一種惡意程式，專門將本機與網路儲存上的重要檔案加密之後要求支付贖金才能解開檔案。</a:t>
            </a:r>
            <a:r>
              <a:rPr lang="zh-TW" altLang="en-US" dirty="0">
                <a:solidFill>
                  <a:schemeClr val="tx1"/>
                </a:solidFill>
                <a:latin typeface="+mn-ea"/>
              </a:rPr>
              <a:t>駭客開發這類惡意程式的目的是為了經由數位勒索來牟利。</a:t>
            </a:r>
          </a:p>
          <a:p>
            <a:endParaRPr lang="zh-TW" altLang="en-US" dirty="0">
              <a:latin typeface="+mn-ea"/>
            </a:endParaRPr>
          </a:p>
        </p:txBody>
      </p:sp>
      <p:pic>
        <p:nvPicPr>
          <p:cNvPr id="4" name="圖片 3"/>
          <p:cNvPicPr>
            <a:picLocks noChangeAspect="1"/>
          </p:cNvPicPr>
          <p:nvPr/>
        </p:nvPicPr>
        <p:blipFill>
          <a:blip r:embed="rId2"/>
          <a:stretch>
            <a:fillRect/>
          </a:stretch>
        </p:blipFill>
        <p:spPr>
          <a:xfrm>
            <a:off x="5005783" y="1622737"/>
            <a:ext cx="6424217" cy="4869602"/>
          </a:xfrm>
          <a:prstGeom prst="rect">
            <a:avLst/>
          </a:prstGeom>
        </p:spPr>
      </p:pic>
    </p:spTree>
    <p:extLst>
      <p:ext uri="{BB962C8B-B14F-4D97-AF65-F5344CB8AC3E}">
        <p14:creationId xmlns:p14="http://schemas.microsoft.com/office/powerpoint/2010/main" val="10921145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latin typeface="+mn-ea"/>
                <a:ea typeface="+mn-ea"/>
              </a:rPr>
              <a:t>目標</a:t>
            </a:r>
            <a:endParaRPr lang="en-US" altLang="zh-TW" b="1" dirty="0">
              <a:latin typeface="+mn-ea"/>
              <a:ea typeface="+mn-ea"/>
            </a:endParaRP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7972196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勒索病毒專門以重要資訊為目標</a:t>
            </a:r>
            <a:br>
              <a:rPr lang="zh-TW" altLang="en-US" b="1" dirty="0"/>
            </a:br>
            <a:endParaRPr lang="zh-TW" altLang="en-US" dirty="0"/>
          </a:p>
        </p:txBody>
      </p:sp>
      <p:sp>
        <p:nvSpPr>
          <p:cNvPr id="3" name="內容版面配置區 2"/>
          <p:cNvSpPr>
            <a:spLocks noGrp="1"/>
          </p:cNvSpPr>
          <p:nvPr>
            <p:ph idx="1"/>
          </p:nvPr>
        </p:nvSpPr>
        <p:spPr>
          <a:xfrm>
            <a:off x="1251678" y="2286001"/>
            <a:ext cx="10178322" cy="4571999"/>
          </a:xfrm>
        </p:spPr>
        <p:txBody>
          <a:bodyPr>
            <a:normAutofit/>
          </a:bodyPr>
          <a:lstStyle/>
          <a:p>
            <a:r>
              <a:rPr lang="zh-TW" altLang="en-US" dirty="0">
                <a:solidFill>
                  <a:schemeClr val="tx1"/>
                </a:solidFill>
                <a:latin typeface="Times New Roman" panose="02020603050405020304" pitchFamily="18" charset="0"/>
                <a:cs typeface="Times New Roman" panose="02020603050405020304" pitchFamily="18" charset="0"/>
              </a:rPr>
              <a:t>勒索病毒一旦執行，就會搜尋所有本機與網路上的儲存裝置，尋找可加密的檔案。它會攻擊它認為對您企業或個人重要的檔案，也包括可讓您復原資料的備份檔案。以下是幾種勒索病毒經常鎖定的檔案類型：</a:t>
            </a:r>
          </a:p>
          <a:p>
            <a:pPr lvl="1"/>
            <a:r>
              <a:rPr lang="en-US" altLang="zh-TW" sz="2000" b="1" dirty="0">
                <a:solidFill>
                  <a:schemeClr val="tx1"/>
                </a:solidFill>
                <a:latin typeface="Times New Roman" panose="02020603050405020304" pitchFamily="18" charset="0"/>
                <a:cs typeface="Times New Roman" panose="02020603050405020304" pitchFamily="18" charset="0"/>
              </a:rPr>
              <a:t>Microsoft Office</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xlsx</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docx</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pptx</a:t>
            </a:r>
            <a:r>
              <a:rPr lang="en-US" altLang="zh-TW" sz="2000" b="1" dirty="0">
                <a:solidFill>
                  <a:schemeClr val="tx1"/>
                </a:solidFill>
                <a:latin typeface="Times New Roman" panose="02020603050405020304" pitchFamily="18" charset="0"/>
                <a:cs typeface="Times New Roman" panose="02020603050405020304" pitchFamily="18" charset="0"/>
              </a:rPr>
              <a:t> </a:t>
            </a:r>
            <a:r>
              <a:rPr lang="zh-TW" altLang="en-US" sz="2000" b="1" dirty="0">
                <a:solidFill>
                  <a:schemeClr val="tx1"/>
                </a:solidFill>
                <a:latin typeface="Times New Roman" panose="02020603050405020304" pitchFamily="18" charset="0"/>
                <a:cs typeface="Times New Roman" panose="02020603050405020304" pitchFamily="18" charset="0"/>
              </a:rPr>
              <a:t>以及舊版的檔案</a:t>
            </a:r>
          </a:p>
          <a:p>
            <a:pPr lvl="1"/>
            <a:r>
              <a:rPr lang="zh-TW" altLang="en-US" sz="2000" b="1" dirty="0">
                <a:solidFill>
                  <a:schemeClr val="tx1"/>
                </a:solidFill>
                <a:latin typeface="Times New Roman" panose="02020603050405020304" pitchFamily="18" charset="0"/>
                <a:cs typeface="Times New Roman" panose="02020603050405020304" pitchFamily="18" charset="0"/>
              </a:rPr>
              <a:t>影像：</a:t>
            </a:r>
            <a:r>
              <a:rPr lang="en-US" altLang="zh-TW" sz="2000" b="1" dirty="0">
                <a:solidFill>
                  <a:schemeClr val="tx1"/>
                </a:solidFill>
                <a:latin typeface="Times New Roman" panose="02020603050405020304" pitchFamily="18" charset="0"/>
                <a:cs typeface="Times New Roman" panose="02020603050405020304" pitchFamily="18" charset="0"/>
              </a:rPr>
              <a:t>.jpeg</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png</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.jpeg</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.gif </a:t>
            </a:r>
          </a:p>
          <a:p>
            <a:pPr lvl="1"/>
            <a:r>
              <a:rPr lang="zh-TW" altLang="en-US" sz="2000" b="1" dirty="0">
                <a:solidFill>
                  <a:schemeClr val="tx1"/>
                </a:solidFill>
                <a:latin typeface="Times New Roman" panose="02020603050405020304" pitchFamily="18" charset="0"/>
                <a:cs typeface="Times New Roman" panose="02020603050405020304" pitchFamily="18" charset="0"/>
              </a:rPr>
              <a:t>業務相關影像：</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dwg</a:t>
            </a:r>
            <a:r>
              <a:rPr lang="en-US" altLang="zh-TW" sz="2000" b="1" dirty="0">
                <a:solidFill>
                  <a:schemeClr val="tx1"/>
                </a:solidFill>
                <a:latin typeface="Times New Roman" panose="02020603050405020304" pitchFamily="18" charset="0"/>
                <a:cs typeface="Times New Roman" panose="02020603050405020304" pitchFamily="18" charset="0"/>
              </a:rPr>
              <a:t> </a:t>
            </a:r>
          </a:p>
          <a:p>
            <a:pPr lvl="1"/>
            <a:r>
              <a:rPr lang="zh-TW" altLang="en-US" sz="2000" b="1" dirty="0">
                <a:solidFill>
                  <a:schemeClr val="tx1"/>
                </a:solidFill>
                <a:latin typeface="Times New Roman" panose="02020603050405020304" pitchFamily="18" charset="0"/>
                <a:cs typeface="Times New Roman" panose="02020603050405020304" pitchFamily="18" charset="0"/>
              </a:rPr>
              <a:t>資料：</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sql</a:t>
            </a:r>
            <a:r>
              <a:rPr lang="en-US" altLang="zh-TW" sz="2000" b="1" dirty="0">
                <a:solidFill>
                  <a:schemeClr val="tx1"/>
                </a:solidFill>
                <a:latin typeface="Times New Roman" panose="02020603050405020304" pitchFamily="18" charset="0"/>
                <a:cs typeface="Times New Roman" panose="02020603050405020304" pitchFamily="18" charset="0"/>
              </a:rPr>
              <a:t> </a:t>
            </a:r>
            <a:r>
              <a:rPr lang="zh-TW" altLang="en-US" sz="2000" b="1" dirty="0">
                <a:solidFill>
                  <a:schemeClr val="tx1"/>
                </a:solidFill>
                <a:latin typeface="Times New Roman" panose="02020603050405020304" pitchFamily="18" charset="0"/>
                <a:cs typeface="Times New Roman" panose="02020603050405020304" pitchFamily="18" charset="0"/>
              </a:rPr>
              <a:t>與 </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ai</a:t>
            </a:r>
            <a:endParaRPr lang="en-US" altLang="zh-TW" sz="2000" b="1" dirty="0">
              <a:solidFill>
                <a:schemeClr val="tx1"/>
              </a:solidFill>
              <a:latin typeface="Times New Roman" panose="02020603050405020304" pitchFamily="18" charset="0"/>
              <a:cs typeface="Times New Roman" panose="02020603050405020304" pitchFamily="18" charset="0"/>
            </a:endParaRPr>
          </a:p>
          <a:p>
            <a:pPr lvl="1"/>
            <a:r>
              <a:rPr lang="zh-TW" altLang="en-US" sz="2000" b="1" dirty="0">
                <a:solidFill>
                  <a:schemeClr val="tx1"/>
                </a:solidFill>
                <a:latin typeface="Times New Roman" panose="02020603050405020304" pitchFamily="18" charset="0"/>
                <a:cs typeface="Times New Roman" panose="02020603050405020304" pitchFamily="18" charset="0"/>
              </a:rPr>
              <a:t>影片：</a:t>
            </a:r>
            <a:r>
              <a:rPr lang="en-US" altLang="zh-TW" sz="2000" b="1" dirty="0">
                <a:solidFill>
                  <a:schemeClr val="tx1"/>
                </a:solidFill>
                <a:latin typeface="Times New Roman" panose="02020603050405020304" pitchFamily="18" charset="0"/>
                <a:cs typeface="Times New Roman" panose="02020603050405020304" pitchFamily="18" charset="0"/>
              </a:rPr>
              <a:t>.</a:t>
            </a:r>
            <a:r>
              <a:rPr lang="en-US" altLang="zh-TW" sz="2000" b="1" dirty="0" err="1">
                <a:solidFill>
                  <a:schemeClr val="tx1"/>
                </a:solidFill>
                <a:latin typeface="Times New Roman" panose="02020603050405020304" pitchFamily="18" charset="0"/>
                <a:cs typeface="Times New Roman" panose="02020603050405020304" pitchFamily="18" charset="0"/>
              </a:rPr>
              <a:t>avi</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.m4a</a:t>
            </a:r>
            <a:r>
              <a:rPr lang="zh-TW" altLang="en-US" sz="2000" b="1" dirty="0">
                <a:solidFill>
                  <a:schemeClr val="tx1"/>
                </a:solidFill>
                <a:latin typeface="Times New Roman" panose="02020603050405020304" pitchFamily="18" charset="0"/>
                <a:cs typeface="Times New Roman" panose="02020603050405020304" pitchFamily="18" charset="0"/>
              </a:rPr>
              <a:t>、</a:t>
            </a:r>
            <a:r>
              <a:rPr lang="en-US" altLang="zh-TW" sz="2000" b="1" dirty="0">
                <a:solidFill>
                  <a:schemeClr val="tx1"/>
                </a:solidFill>
                <a:latin typeface="Times New Roman" panose="02020603050405020304" pitchFamily="18" charset="0"/>
                <a:cs typeface="Times New Roman" panose="02020603050405020304" pitchFamily="18" charset="0"/>
              </a:rPr>
              <a:t>.mp4</a:t>
            </a:r>
            <a:br>
              <a:rPr lang="en-US" altLang="zh-TW" b="1" dirty="0">
                <a:latin typeface="Times New Roman" panose="02020603050405020304" pitchFamily="18" charset="0"/>
                <a:cs typeface="Times New Roman" panose="02020603050405020304" pitchFamily="18" charset="0"/>
              </a:rPr>
            </a:br>
            <a:endParaRPr lang="zh-TW" altLang="en-US" dirty="0"/>
          </a:p>
        </p:txBody>
      </p:sp>
    </p:spTree>
    <p:extLst>
      <p:ext uri="{BB962C8B-B14F-4D97-AF65-F5344CB8AC3E}">
        <p14:creationId xmlns:p14="http://schemas.microsoft.com/office/powerpoint/2010/main" val="29011420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網路釣魚郵件經常暗藏勒索病毒</a:t>
            </a:r>
            <a:endParaRPr lang="zh-TW" altLang="en-US" dirty="0">
              <a:latin typeface="+mn-ea"/>
              <a:ea typeface="+mn-ea"/>
            </a:endParaRPr>
          </a:p>
        </p:txBody>
      </p:sp>
      <p:sp>
        <p:nvSpPr>
          <p:cNvPr id="3" name="內容版面配置區 2"/>
          <p:cNvSpPr>
            <a:spLocks noGrp="1"/>
          </p:cNvSpPr>
          <p:nvPr>
            <p:ph idx="1"/>
          </p:nvPr>
        </p:nvSpPr>
        <p:spPr>
          <a:xfrm>
            <a:off x="1251678" y="2286001"/>
            <a:ext cx="4287988" cy="4571999"/>
          </a:xfrm>
        </p:spPr>
        <p:txBody>
          <a:bodyPr/>
          <a:lstStyle/>
          <a:p>
            <a:r>
              <a:rPr lang="zh-TW" altLang="en-US" dirty="0">
                <a:solidFill>
                  <a:schemeClr val="tx1"/>
                </a:solidFill>
              </a:rPr>
              <a:t>勒索病毒有別於其他惡意程式之處在於它啟動之後的行為。它的入侵方式通常是經由使用者開啟了某個附件檔案或點選了網路釣魚郵件中的連結來執行惡意程式，接著再從駭客的伺服器下載勒索病毒。</a:t>
            </a:r>
          </a:p>
        </p:txBody>
      </p:sp>
      <p:pic>
        <p:nvPicPr>
          <p:cNvPr id="4" name="圖片 3"/>
          <p:cNvPicPr>
            <a:picLocks noChangeAspect="1"/>
          </p:cNvPicPr>
          <p:nvPr/>
        </p:nvPicPr>
        <p:blipFill>
          <a:blip r:embed="rId2"/>
          <a:stretch>
            <a:fillRect/>
          </a:stretch>
        </p:blipFill>
        <p:spPr>
          <a:xfrm>
            <a:off x="6340839" y="2286001"/>
            <a:ext cx="4298052" cy="3383573"/>
          </a:xfrm>
          <a:prstGeom prst="rect">
            <a:avLst/>
          </a:prstGeom>
        </p:spPr>
      </p:pic>
    </p:spTree>
    <p:extLst>
      <p:ext uri="{BB962C8B-B14F-4D97-AF65-F5344CB8AC3E}">
        <p14:creationId xmlns:p14="http://schemas.microsoft.com/office/powerpoint/2010/main" val="27650656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勒索贖金交付</a:t>
            </a:r>
            <a:endParaRPr lang="zh-TW" altLang="en-US" dirty="0">
              <a:latin typeface="+mn-ea"/>
              <a:ea typeface="+mn-ea"/>
            </a:endParaRPr>
          </a:p>
        </p:txBody>
      </p:sp>
      <p:sp>
        <p:nvSpPr>
          <p:cNvPr id="3" name="內容版面配置區 2"/>
          <p:cNvSpPr>
            <a:spLocks noGrp="1"/>
          </p:cNvSpPr>
          <p:nvPr>
            <p:ph idx="1"/>
          </p:nvPr>
        </p:nvSpPr>
        <p:spPr>
          <a:xfrm>
            <a:off x="1251677" y="2286001"/>
            <a:ext cx="4447787" cy="4571999"/>
          </a:xfrm>
        </p:spPr>
        <p:txBody>
          <a:bodyPr/>
          <a:lstStyle/>
          <a:p>
            <a:r>
              <a:rPr lang="zh-TW" altLang="en-US" dirty="0">
                <a:solidFill>
                  <a:schemeClr val="tx1"/>
                </a:solidFill>
                <a:latin typeface="Times New Roman" panose="02020603050405020304" pitchFamily="18" charset="0"/>
                <a:cs typeface="Times New Roman" panose="02020603050405020304" pitchFamily="18" charset="0"/>
              </a:rPr>
              <a:t>駭客會要求以虛擬加密貨幣支付贖金 </a:t>
            </a:r>
            <a:r>
              <a:rPr lang="en-US" altLang="zh-TW" dirty="0">
                <a:solidFill>
                  <a:schemeClr val="tx1"/>
                </a:solidFill>
                <a:latin typeface="Times New Roman" panose="02020603050405020304" pitchFamily="18" charset="0"/>
                <a:cs typeface="Times New Roman" panose="02020603050405020304" pitchFamily="18" charset="0"/>
              </a:rPr>
              <a:t>(</a:t>
            </a:r>
            <a:r>
              <a:rPr lang="zh-TW" altLang="en-US" dirty="0">
                <a:solidFill>
                  <a:schemeClr val="tx1"/>
                </a:solidFill>
                <a:latin typeface="Times New Roman" panose="02020603050405020304" pitchFamily="18" charset="0"/>
                <a:cs typeface="Times New Roman" panose="02020603050405020304" pitchFamily="18" charset="0"/>
              </a:rPr>
              <a:t>以 </a:t>
            </a:r>
            <a:r>
              <a:rPr lang="en-US" altLang="zh-TW" dirty="0">
                <a:solidFill>
                  <a:schemeClr val="tx1"/>
                </a:solidFill>
                <a:latin typeface="Times New Roman" panose="02020603050405020304" pitchFamily="18" charset="0"/>
                <a:cs typeface="Times New Roman" panose="02020603050405020304" pitchFamily="18" charset="0"/>
              </a:rPr>
              <a:t>Bitcoin </a:t>
            </a:r>
            <a:r>
              <a:rPr lang="zh-TW" altLang="en-US" dirty="0">
                <a:solidFill>
                  <a:schemeClr val="tx1"/>
                </a:solidFill>
                <a:latin typeface="Times New Roman" panose="02020603050405020304" pitchFamily="18" charset="0"/>
                <a:cs typeface="Times New Roman" panose="02020603050405020304" pitchFamily="18" charset="0"/>
              </a:rPr>
              <a:t>為主</a:t>
            </a:r>
            <a:r>
              <a:rPr lang="en-US" altLang="zh-TW" dirty="0">
                <a:solidFill>
                  <a:schemeClr val="tx1"/>
                </a:solidFill>
                <a:latin typeface="Times New Roman" panose="02020603050405020304" pitchFamily="18" charset="0"/>
                <a:cs typeface="Times New Roman" panose="02020603050405020304" pitchFamily="18" charset="0"/>
              </a:rPr>
              <a:t>)</a:t>
            </a:r>
            <a:r>
              <a:rPr lang="zh-TW" altLang="en-US" dirty="0">
                <a:solidFill>
                  <a:schemeClr val="tx1"/>
                </a:solidFill>
                <a:latin typeface="Times New Roman" panose="02020603050405020304" pitchFamily="18" charset="0"/>
                <a:cs typeface="Times New Roman" panose="02020603050405020304" pitchFamily="18" charset="0"/>
              </a:rPr>
              <a:t>，透過這樣的方式收取贖金可降低被逮的風險。此外，駭客也會將其伺服器架設在匿名的 </a:t>
            </a:r>
            <a:r>
              <a:rPr lang="en-US" altLang="zh-TW" dirty="0">
                <a:solidFill>
                  <a:schemeClr val="tx1"/>
                </a:solidFill>
                <a:latin typeface="Times New Roman" panose="02020603050405020304" pitchFamily="18" charset="0"/>
                <a:cs typeface="Times New Roman" panose="02020603050405020304" pitchFamily="18" charset="0"/>
              </a:rPr>
              <a:t>TOR </a:t>
            </a:r>
            <a:r>
              <a:rPr lang="zh-TW" altLang="en-US" dirty="0">
                <a:solidFill>
                  <a:schemeClr val="tx1"/>
                </a:solidFill>
                <a:latin typeface="Times New Roman" panose="02020603050405020304" pitchFamily="18" charset="0"/>
                <a:cs typeface="Times New Roman" panose="02020603050405020304" pitchFamily="18" charset="0"/>
              </a:rPr>
              <a:t>網路上以避免被查緝。</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3472" y="2286001"/>
            <a:ext cx="5715000" cy="3800475"/>
          </a:xfrm>
          <a:prstGeom prst="rect">
            <a:avLst/>
          </a:prstGeom>
        </p:spPr>
      </p:pic>
    </p:spTree>
    <p:extLst>
      <p:ext uri="{BB962C8B-B14F-4D97-AF65-F5344CB8AC3E}">
        <p14:creationId xmlns:p14="http://schemas.microsoft.com/office/powerpoint/2010/main" val="373671792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latin typeface="+mn-ea"/>
                <a:ea typeface="+mn-ea"/>
              </a:rPr>
              <a:t>類型</a:t>
            </a:r>
            <a:endParaRPr lang="en-US" altLang="zh-TW" b="1" dirty="0">
              <a:latin typeface="+mn-ea"/>
              <a:ea typeface="+mn-ea"/>
            </a:endParaRP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310484676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solidFill>
                  <a:schemeClr val="tx1"/>
                </a:solidFill>
                <a:latin typeface="+mn-ea"/>
                <a:ea typeface="+mn-ea"/>
              </a:rPr>
              <a:t>勒索病毒的類型</a:t>
            </a:r>
          </a:p>
        </p:txBody>
      </p:sp>
      <p:sp>
        <p:nvSpPr>
          <p:cNvPr id="3" name="內容版面配置區 2"/>
          <p:cNvSpPr>
            <a:spLocks noGrp="1"/>
          </p:cNvSpPr>
          <p:nvPr>
            <p:ph idx="1"/>
          </p:nvPr>
        </p:nvSpPr>
        <p:spPr>
          <a:xfrm>
            <a:off x="1251678" y="2286001"/>
            <a:ext cx="10178322" cy="4571999"/>
          </a:xfrm>
        </p:spPr>
        <p:txBody>
          <a:bodyPr/>
          <a:lstStyle/>
          <a:p>
            <a:pPr>
              <a:buClr>
                <a:schemeClr val="tx1"/>
              </a:buClr>
            </a:pPr>
            <a:r>
              <a:rPr lang="zh-TW" altLang="en-US" dirty="0">
                <a:solidFill>
                  <a:schemeClr val="tx1"/>
                </a:solidFill>
              </a:rPr>
              <a:t>封鎖型勒索病毒</a:t>
            </a:r>
            <a:endParaRPr lang="en-US" altLang="zh-TW" dirty="0">
              <a:solidFill>
                <a:schemeClr val="tx1"/>
              </a:solidFill>
            </a:endParaRPr>
          </a:p>
          <a:p>
            <a:pPr lvl="1">
              <a:buClr>
                <a:schemeClr val="tx1"/>
              </a:buClr>
            </a:pPr>
            <a:r>
              <a:rPr lang="zh-TW" altLang="en-US" sz="2000" dirty="0">
                <a:solidFill>
                  <a:schemeClr val="tx1"/>
                </a:solidFill>
              </a:rPr>
              <a:t>這類勒索病毒會將電腦鎖住，讓使用者無法使用。有可能是對電腦開機檔案動了手腳，讓使用者進不了桌面。但一般來說，使用者還是能夠使用電腦來支付贖金，但除此之外就不能做其他事情。這類勒索病毒較為單純，造成的衝擊也不像第二種那麼嚴重。</a:t>
            </a:r>
            <a:endParaRPr lang="en-US" altLang="zh-TW" sz="2000" dirty="0">
              <a:solidFill>
                <a:schemeClr val="tx1"/>
              </a:solidFill>
            </a:endParaRPr>
          </a:p>
          <a:p>
            <a:pPr>
              <a:buClr>
                <a:schemeClr val="tx1"/>
              </a:buClr>
            </a:pPr>
            <a:r>
              <a:rPr lang="zh-TW" altLang="en-US" dirty="0">
                <a:solidFill>
                  <a:schemeClr val="tx1"/>
                </a:solidFill>
              </a:rPr>
              <a:t>加密型勒索病毒</a:t>
            </a:r>
            <a:endParaRPr lang="en-US" altLang="zh-TW" dirty="0">
              <a:solidFill>
                <a:schemeClr val="tx1"/>
              </a:solidFill>
            </a:endParaRPr>
          </a:p>
          <a:p>
            <a:pPr lvl="1">
              <a:buClr>
                <a:schemeClr val="tx1"/>
              </a:buClr>
            </a:pPr>
            <a:r>
              <a:rPr lang="zh-TW" altLang="en-US" sz="2000" dirty="0">
                <a:solidFill>
                  <a:schemeClr val="tx1"/>
                </a:solidFill>
              </a:rPr>
              <a:t>這類勒索病毒會將電腦上的重要資料加密 </a:t>
            </a:r>
            <a:r>
              <a:rPr lang="en-US" altLang="zh-TW" sz="2000" dirty="0">
                <a:solidFill>
                  <a:schemeClr val="tx1"/>
                </a:solidFill>
              </a:rPr>
              <a:t>(</a:t>
            </a:r>
            <a:r>
              <a:rPr lang="zh-TW" altLang="en-US" sz="2000" dirty="0">
                <a:solidFill>
                  <a:schemeClr val="tx1"/>
                </a:solidFill>
              </a:rPr>
              <a:t>文件、相片、影片等等</a:t>
            </a:r>
            <a:r>
              <a:rPr lang="en-US" altLang="zh-TW" sz="2000" dirty="0">
                <a:solidFill>
                  <a:schemeClr val="tx1"/>
                </a:solidFill>
              </a:rPr>
              <a:t>)</a:t>
            </a:r>
            <a:r>
              <a:rPr lang="zh-TW" altLang="en-US" sz="2000" dirty="0">
                <a:solidFill>
                  <a:schemeClr val="tx1"/>
                </a:solidFill>
              </a:rPr>
              <a:t>，但不會干擾電腦的功能。這種類型的勒索病毒通常會在勒索訊息當中加入倒數期限。如果沒有在期限內付款，就會將所有被加密的資料刪除。</a:t>
            </a:r>
            <a:endParaRPr lang="en-US" altLang="zh-TW" sz="2000" dirty="0">
              <a:solidFill>
                <a:schemeClr val="tx1"/>
              </a:solidFill>
            </a:endParaRPr>
          </a:p>
          <a:p>
            <a:endParaRPr lang="zh-TW" altLang="en-US" dirty="0"/>
          </a:p>
        </p:txBody>
      </p:sp>
    </p:spTree>
    <p:extLst>
      <p:ext uri="{BB962C8B-B14F-4D97-AF65-F5344CB8AC3E}">
        <p14:creationId xmlns:p14="http://schemas.microsoft.com/office/powerpoint/2010/main" val="2802823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Times New Roman" panose="02020603050405020304" pitchFamily="18" charset="0"/>
                <a:ea typeface="+mn-ea"/>
                <a:cs typeface="Times New Roman" panose="02020603050405020304" pitchFamily="18" charset="0"/>
              </a:rPr>
              <a:t>勒索病毒 </a:t>
            </a:r>
            <a:r>
              <a:rPr lang="en-US" altLang="zh-TW" b="1" dirty="0">
                <a:latin typeface="Times New Roman" panose="02020603050405020304" pitchFamily="18" charset="0"/>
                <a:ea typeface="+mn-ea"/>
                <a:cs typeface="Times New Roman" panose="02020603050405020304" pitchFamily="18" charset="0"/>
              </a:rPr>
              <a:t>—</a:t>
            </a:r>
            <a:r>
              <a:rPr lang="zh-TW" altLang="en-US" b="1" dirty="0">
                <a:latin typeface="Times New Roman" panose="02020603050405020304" pitchFamily="18" charset="0"/>
                <a:ea typeface="+mn-ea"/>
                <a:cs typeface="Times New Roman" panose="02020603050405020304" pitchFamily="18" charset="0"/>
              </a:rPr>
              <a:t> </a:t>
            </a:r>
            <a:r>
              <a:rPr lang="en-US" altLang="zh-TW" b="1" dirty="0" err="1">
                <a:latin typeface="Times New Roman" panose="02020603050405020304" pitchFamily="18" charset="0"/>
                <a:ea typeface="+mn-ea"/>
                <a:cs typeface="Times New Roman" panose="02020603050405020304" pitchFamily="18" charset="0"/>
              </a:rPr>
              <a:t>Locky</a:t>
            </a:r>
            <a:endParaRPr lang="zh-TW" altLang="en-US" b="1" dirty="0">
              <a:latin typeface="Times New Roman" panose="02020603050405020304" pitchFamily="18" charset="0"/>
              <a:ea typeface="+mn-ea"/>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err="1">
                <a:solidFill>
                  <a:schemeClr val="tx1"/>
                </a:solidFill>
                <a:latin typeface="Times New Roman" panose="02020603050405020304" pitchFamily="18" charset="0"/>
                <a:cs typeface="Times New Roman" panose="02020603050405020304" pitchFamily="18" charset="0"/>
              </a:rPr>
              <a:t>Locky</a:t>
            </a:r>
            <a:r>
              <a:rPr lang="zh-TW" altLang="en-US" dirty="0">
                <a:solidFill>
                  <a:schemeClr val="tx1"/>
                </a:solidFill>
                <a:latin typeface="Times New Roman" panose="02020603050405020304" pitchFamily="18" charset="0"/>
                <a:cs typeface="Times New Roman" panose="02020603050405020304" pitchFamily="18" charset="0"/>
              </a:rPr>
              <a:t>在</a:t>
            </a:r>
            <a:r>
              <a:rPr lang="en-US" altLang="zh-TW" dirty="0">
                <a:solidFill>
                  <a:schemeClr val="tx1"/>
                </a:solidFill>
                <a:latin typeface="Times New Roman" panose="02020603050405020304" pitchFamily="18" charset="0"/>
                <a:cs typeface="Times New Roman" panose="02020603050405020304" pitchFamily="18" charset="0"/>
              </a:rPr>
              <a:t>2016</a:t>
            </a:r>
            <a:r>
              <a:rPr lang="zh-TW" altLang="en-US" dirty="0">
                <a:solidFill>
                  <a:schemeClr val="tx1"/>
                </a:solidFill>
                <a:latin typeface="Times New Roman" panose="02020603050405020304" pitchFamily="18" charset="0"/>
                <a:cs typeface="Times New Roman" panose="02020603050405020304" pitchFamily="18" charset="0"/>
              </a:rPr>
              <a:t>年首次被駭客組織用來進行攻擊。它能夠加密</a:t>
            </a:r>
            <a:r>
              <a:rPr lang="en-US" altLang="zh-TW" dirty="0">
                <a:solidFill>
                  <a:schemeClr val="tx1"/>
                </a:solidFill>
                <a:latin typeface="Times New Roman" panose="02020603050405020304" pitchFamily="18" charset="0"/>
                <a:cs typeface="Times New Roman" panose="02020603050405020304" pitchFamily="18" charset="0"/>
              </a:rPr>
              <a:t>160</a:t>
            </a:r>
            <a:r>
              <a:rPr lang="zh-TW" altLang="en-US" dirty="0">
                <a:solidFill>
                  <a:schemeClr val="tx1"/>
                </a:solidFill>
                <a:latin typeface="Times New Roman" panose="02020603050405020304" pitchFamily="18" charset="0"/>
                <a:cs typeface="Times New Roman" panose="02020603050405020304" pitchFamily="18" charset="0"/>
              </a:rPr>
              <a:t>多種類型的檔案，並且透過偽造的電子郵件附件散播。使用者會被誘騙而將勒索病毒裝進了自己的電腦。這樣的散播方法稱為網路釣魚 </a:t>
            </a:r>
            <a:r>
              <a:rPr lang="en-US" altLang="zh-TW" dirty="0">
                <a:solidFill>
                  <a:schemeClr val="tx1"/>
                </a:solidFill>
                <a:latin typeface="Times New Roman" panose="02020603050405020304" pitchFamily="18" charset="0"/>
                <a:cs typeface="Times New Roman" panose="02020603050405020304" pitchFamily="18" charset="0"/>
              </a:rPr>
              <a:t>– </a:t>
            </a:r>
            <a:r>
              <a:rPr lang="zh-TW" altLang="en-US" dirty="0">
                <a:solidFill>
                  <a:schemeClr val="tx1"/>
                </a:solidFill>
                <a:latin typeface="Times New Roman" panose="02020603050405020304" pitchFamily="18" charset="0"/>
                <a:cs typeface="Times New Roman" panose="02020603050405020304" pitchFamily="18" charset="0"/>
              </a:rPr>
              <a:t>社交工程手法之一。</a:t>
            </a:r>
            <a:r>
              <a:rPr lang="en-US" altLang="zh-TW" dirty="0" err="1">
                <a:solidFill>
                  <a:schemeClr val="tx1"/>
                </a:solidFill>
                <a:latin typeface="Times New Roman" panose="02020603050405020304" pitchFamily="18" charset="0"/>
                <a:cs typeface="Times New Roman" panose="02020603050405020304" pitchFamily="18" charset="0"/>
              </a:rPr>
              <a:t>Locky</a:t>
            </a:r>
            <a:r>
              <a:rPr lang="zh-TW" altLang="en-US" dirty="0">
                <a:solidFill>
                  <a:schemeClr val="tx1"/>
                </a:solidFill>
                <a:latin typeface="Times New Roman" panose="02020603050405020304" pitchFamily="18" charset="0"/>
                <a:cs typeface="Times New Roman" panose="02020603050405020304" pitchFamily="18" charset="0"/>
              </a:rPr>
              <a:t>勒索病毒的目標是設計師、開發人員和工程師經常使用的檔案類型。</a:t>
            </a:r>
          </a:p>
          <a:p>
            <a:pPr marL="0" indent="0">
              <a:buNone/>
            </a:pPr>
            <a:endParaRPr lang="zh-TW" altLang="en-US" dirty="0"/>
          </a:p>
        </p:txBody>
      </p:sp>
      <p:pic>
        <p:nvPicPr>
          <p:cNvPr id="4" name="Picture 2" descr="https://am.zdmimg.com/201604/12/570bcbbc86257.png_fo742.jpg"/>
          <p:cNvPicPr>
            <a:picLocks noChangeAspect="1" noChangeArrowheads="1"/>
          </p:cNvPicPr>
          <p:nvPr/>
        </p:nvPicPr>
        <p:blipFill rotWithShape="1">
          <a:blip r:embed="rId2">
            <a:extLst>
              <a:ext uri="{28A0092B-C50C-407E-A947-70E740481C1C}">
                <a14:useLocalDpi xmlns:a14="http://schemas.microsoft.com/office/drawing/2010/main" val="0"/>
              </a:ext>
            </a:extLst>
          </a:blip>
          <a:srcRect b="14508"/>
          <a:stretch/>
        </p:blipFill>
        <p:spPr bwMode="auto">
          <a:xfrm>
            <a:off x="2164716" y="3836263"/>
            <a:ext cx="8352245" cy="302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189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Times New Roman" panose="02020603050405020304" pitchFamily="18" charset="0"/>
                <a:ea typeface="+mn-ea"/>
                <a:cs typeface="Times New Roman" panose="02020603050405020304" pitchFamily="18" charset="0"/>
              </a:rPr>
              <a:t>勒索病毒 </a:t>
            </a:r>
            <a:r>
              <a:rPr lang="en-US" altLang="zh-TW" b="1" dirty="0">
                <a:latin typeface="Times New Roman" panose="02020603050405020304" pitchFamily="18" charset="0"/>
                <a:ea typeface="+mn-ea"/>
                <a:cs typeface="Times New Roman" panose="02020603050405020304" pitchFamily="18" charset="0"/>
              </a:rPr>
              <a:t>—</a:t>
            </a:r>
            <a:r>
              <a:rPr lang="zh-TW" altLang="en-US" b="1" dirty="0">
                <a:latin typeface="Times New Roman" panose="02020603050405020304" pitchFamily="18" charset="0"/>
                <a:ea typeface="+mn-ea"/>
                <a:cs typeface="Times New Roman" panose="02020603050405020304" pitchFamily="18" charset="0"/>
              </a:rPr>
              <a:t> </a:t>
            </a:r>
            <a:r>
              <a:rPr lang="en-US" altLang="zh-TW" b="1" dirty="0" err="1">
                <a:latin typeface="Times New Roman" panose="02020603050405020304" pitchFamily="18" charset="0"/>
                <a:ea typeface="+mn-ea"/>
                <a:cs typeface="Times New Roman" panose="02020603050405020304" pitchFamily="18" charset="0"/>
              </a:rPr>
              <a:t>WannaCry</a:t>
            </a:r>
            <a:endParaRPr lang="zh-TW" altLang="en-US" b="1" dirty="0">
              <a:latin typeface="Times New Roman" panose="02020603050405020304" pitchFamily="18" charset="0"/>
              <a:ea typeface="+mn-ea"/>
              <a:cs typeface="Times New Roman" panose="02020603050405020304" pitchFamily="18" charset="0"/>
            </a:endParaRPr>
          </a:p>
        </p:txBody>
      </p:sp>
      <p:sp>
        <p:nvSpPr>
          <p:cNvPr id="3" name="內容版面配置區 2"/>
          <p:cNvSpPr>
            <a:spLocks noGrp="1"/>
          </p:cNvSpPr>
          <p:nvPr>
            <p:ph idx="1"/>
          </p:nvPr>
        </p:nvSpPr>
        <p:spPr/>
        <p:txBody>
          <a:bodyPr/>
          <a:lstStyle/>
          <a:p>
            <a:pPr>
              <a:buClr>
                <a:schemeClr val="tx1"/>
              </a:buClr>
            </a:pPr>
            <a:r>
              <a:rPr lang="en-US" altLang="zh-TW" dirty="0" err="1">
                <a:solidFill>
                  <a:schemeClr val="tx1"/>
                </a:solidFill>
                <a:latin typeface="Times New Roman" panose="02020603050405020304" pitchFamily="18" charset="0"/>
                <a:cs typeface="Times New Roman" panose="02020603050405020304" pitchFamily="18" charset="0"/>
              </a:rPr>
              <a:t>WannaCry</a:t>
            </a:r>
            <a:r>
              <a:rPr lang="zh-TW" altLang="en-US" dirty="0">
                <a:solidFill>
                  <a:schemeClr val="tx1"/>
                </a:solidFill>
                <a:latin typeface="Times New Roman" panose="02020603050405020304" pitchFamily="18" charset="0"/>
                <a:cs typeface="Times New Roman" panose="02020603050405020304" pitchFamily="18" charset="0"/>
              </a:rPr>
              <a:t>是一種利用美國國家安全局的「永恆之藍」（</a:t>
            </a:r>
            <a:r>
              <a:rPr lang="en-US" altLang="zh-TW" dirty="0" err="1">
                <a:solidFill>
                  <a:schemeClr val="tx1"/>
                </a:solidFill>
                <a:latin typeface="Times New Roman" panose="02020603050405020304" pitchFamily="18" charset="0"/>
                <a:cs typeface="Times New Roman" panose="02020603050405020304" pitchFamily="18" charset="0"/>
              </a:rPr>
              <a:t>EternalBlue</a:t>
            </a:r>
            <a:r>
              <a:rPr lang="zh-TW" altLang="en-US" dirty="0">
                <a:solidFill>
                  <a:schemeClr val="tx1"/>
                </a:solidFill>
                <a:latin typeface="Times New Roman" panose="02020603050405020304" pitchFamily="18" charset="0"/>
                <a:cs typeface="Times New Roman" panose="02020603050405020304" pitchFamily="18" charset="0"/>
              </a:rPr>
              <a:t>）漏洞利用程式透過網際網路對全球執行</a:t>
            </a:r>
            <a:r>
              <a:rPr lang="en-US" altLang="zh-TW" dirty="0">
                <a:solidFill>
                  <a:schemeClr val="tx1"/>
                </a:solidFill>
                <a:latin typeface="Times New Roman" panose="02020603050405020304" pitchFamily="18" charset="0"/>
                <a:cs typeface="Times New Roman" panose="02020603050405020304" pitchFamily="18" charset="0"/>
              </a:rPr>
              <a:t>Microsoft Windows</a:t>
            </a:r>
            <a:r>
              <a:rPr lang="zh-TW" altLang="en-US" dirty="0">
                <a:solidFill>
                  <a:schemeClr val="tx1"/>
                </a:solidFill>
                <a:latin typeface="Times New Roman" panose="02020603050405020304" pitchFamily="18" charset="0"/>
                <a:cs typeface="Times New Roman" panose="02020603050405020304" pitchFamily="18" charset="0"/>
              </a:rPr>
              <a:t>作業系統的電腦。該病毒利用</a:t>
            </a:r>
            <a:r>
              <a:rPr lang="en-US" altLang="zh-TW" dirty="0">
                <a:solidFill>
                  <a:schemeClr val="tx1"/>
                </a:solidFill>
                <a:latin typeface="Times New Roman" panose="02020603050405020304" pitchFamily="18" charset="0"/>
                <a:cs typeface="Times New Roman" panose="02020603050405020304" pitchFamily="18" charset="0"/>
              </a:rPr>
              <a:t>AES-128</a:t>
            </a:r>
            <a:r>
              <a:rPr lang="zh-TW" altLang="en-US" dirty="0">
                <a:solidFill>
                  <a:schemeClr val="tx1"/>
                </a:solidFill>
                <a:latin typeface="Times New Roman" panose="02020603050405020304" pitchFamily="18" charset="0"/>
                <a:cs typeface="Times New Roman" panose="02020603050405020304" pitchFamily="18" charset="0"/>
              </a:rPr>
              <a:t>和</a:t>
            </a:r>
            <a:r>
              <a:rPr lang="en-US" altLang="zh-TW" dirty="0">
                <a:solidFill>
                  <a:schemeClr val="tx1"/>
                </a:solidFill>
                <a:latin typeface="Times New Roman" panose="02020603050405020304" pitchFamily="18" charset="0"/>
                <a:cs typeface="Times New Roman" panose="02020603050405020304" pitchFamily="18" charset="0"/>
              </a:rPr>
              <a:t>RSA</a:t>
            </a:r>
            <a:r>
              <a:rPr lang="zh-TW" altLang="en-US" dirty="0">
                <a:solidFill>
                  <a:schemeClr val="tx1"/>
                </a:solidFill>
                <a:latin typeface="Times New Roman" panose="02020603050405020304" pitchFamily="18" charset="0"/>
                <a:cs typeface="Times New Roman" panose="02020603050405020304" pitchFamily="18" charset="0"/>
              </a:rPr>
              <a:t>演算法惡意加密使用者檔案以勒索比特幣</a:t>
            </a:r>
          </a:p>
          <a:p>
            <a:pPr>
              <a:buClr>
                <a:schemeClr val="tx1"/>
              </a:buClr>
            </a:pPr>
            <a:r>
              <a:rPr lang="en-US" altLang="zh-TW" dirty="0" err="1">
                <a:solidFill>
                  <a:schemeClr val="tx1"/>
                </a:solidFill>
                <a:latin typeface="Times New Roman" panose="02020603050405020304" pitchFamily="18" charset="0"/>
                <a:cs typeface="Times New Roman" panose="02020603050405020304" pitchFamily="18" charset="0"/>
              </a:rPr>
              <a:t>WannaCry</a:t>
            </a:r>
            <a:r>
              <a:rPr lang="zh-TW" altLang="en-US" dirty="0">
                <a:solidFill>
                  <a:schemeClr val="tx1"/>
                </a:solidFill>
                <a:latin typeface="Times New Roman" panose="02020603050405020304" pitchFamily="18" charset="0"/>
                <a:cs typeface="Times New Roman" panose="02020603050405020304" pitchFamily="18" charset="0"/>
              </a:rPr>
              <a:t>攻擊了分布在</a:t>
            </a:r>
            <a:r>
              <a:rPr lang="en-US" altLang="zh-TW" dirty="0">
                <a:solidFill>
                  <a:schemeClr val="tx1"/>
                </a:solidFill>
                <a:latin typeface="Times New Roman" panose="02020603050405020304" pitchFamily="18" charset="0"/>
                <a:cs typeface="Times New Roman" panose="02020603050405020304" pitchFamily="18" charset="0"/>
              </a:rPr>
              <a:t>150</a:t>
            </a:r>
            <a:r>
              <a:rPr lang="zh-TW" altLang="en-US" dirty="0">
                <a:solidFill>
                  <a:schemeClr val="tx1"/>
                </a:solidFill>
                <a:latin typeface="Times New Roman" panose="02020603050405020304" pitchFamily="18" charset="0"/>
                <a:cs typeface="Times New Roman" panose="02020603050405020304" pitchFamily="18" charset="0"/>
              </a:rPr>
              <a:t>個國家的</a:t>
            </a:r>
            <a:r>
              <a:rPr lang="en-US" altLang="zh-TW" dirty="0">
                <a:solidFill>
                  <a:schemeClr val="tx1"/>
                </a:solidFill>
                <a:latin typeface="Times New Roman" panose="02020603050405020304" pitchFamily="18" charset="0"/>
                <a:cs typeface="Times New Roman" panose="02020603050405020304" pitchFamily="18" charset="0"/>
              </a:rPr>
              <a:t>300</a:t>
            </a:r>
            <a:r>
              <a:rPr lang="zh-TW" altLang="en-US" dirty="0">
                <a:solidFill>
                  <a:schemeClr val="tx1"/>
                </a:solidFill>
                <a:latin typeface="Times New Roman" panose="02020603050405020304" pitchFamily="18" charset="0"/>
                <a:cs typeface="Times New Roman" panose="02020603050405020304" pitchFamily="18" charset="0"/>
              </a:rPr>
              <a:t>多個組織。它的規模是如此之大，以至於即使在終止開關被找到之後，這隻病毒仍繼續威脅著它迄今為止接觸過的所有系統和資料。據估計，它造成的損失超過</a:t>
            </a:r>
            <a:r>
              <a:rPr lang="en-US" altLang="zh-TW" dirty="0">
                <a:solidFill>
                  <a:schemeClr val="tx1"/>
                </a:solidFill>
                <a:latin typeface="Times New Roman" panose="02020603050405020304" pitchFamily="18" charset="0"/>
                <a:cs typeface="Times New Roman" panose="02020603050405020304" pitchFamily="18" charset="0"/>
              </a:rPr>
              <a:t>40</a:t>
            </a:r>
            <a:r>
              <a:rPr lang="zh-TW" altLang="en-US" dirty="0">
                <a:solidFill>
                  <a:schemeClr val="tx1"/>
                </a:solidFill>
                <a:latin typeface="Times New Roman" panose="02020603050405020304" pitchFamily="18" charset="0"/>
                <a:cs typeface="Times New Roman" panose="02020603050405020304" pitchFamily="18" charset="0"/>
              </a:rPr>
              <a:t>億美元</a:t>
            </a:r>
          </a:p>
        </p:txBody>
      </p:sp>
      <p:pic>
        <p:nvPicPr>
          <p:cNvPr id="4" name="Picture 4" descr="如何躲過WannaCry勒索蠕蟲風暴？週一上班先不要開電腦，照著這些方法做| iThome"/>
          <p:cNvPicPr>
            <a:picLocks noChangeAspect="1" noChangeArrowheads="1"/>
          </p:cNvPicPr>
          <p:nvPr/>
        </p:nvPicPr>
        <p:blipFill rotWithShape="1">
          <a:blip r:embed="rId2">
            <a:extLst>
              <a:ext uri="{28A0092B-C50C-407E-A947-70E740481C1C}">
                <a14:useLocalDpi xmlns:a14="http://schemas.microsoft.com/office/drawing/2010/main" val="0"/>
              </a:ext>
            </a:extLst>
          </a:blip>
          <a:srcRect b="42039"/>
          <a:stretch/>
        </p:blipFill>
        <p:spPr bwMode="auto">
          <a:xfrm>
            <a:off x="2329329" y="4823526"/>
            <a:ext cx="8023020" cy="2034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868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solidFill>
                  <a:schemeClr val="tx1"/>
                </a:solidFill>
                <a:latin typeface="Times New Roman" panose="02020603050405020304" pitchFamily="18" charset="0"/>
                <a:ea typeface="+mn-ea"/>
                <a:cs typeface="Times New Roman" panose="02020603050405020304" pitchFamily="18" charset="0"/>
              </a:rPr>
              <a:t>勒索病毒 </a:t>
            </a:r>
            <a:r>
              <a:rPr lang="en-US" altLang="zh-TW" b="1" dirty="0">
                <a:solidFill>
                  <a:schemeClr val="tx1"/>
                </a:solidFill>
                <a:latin typeface="Times New Roman" panose="02020603050405020304" pitchFamily="18" charset="0"/>
                <a:ea typeface="+mn-ea"/>
                <a:cs typeface="Times New Roman" panose="02020603050405020304" pitchFamily="18" charset="0"/>
              </a:rPr>
              <a:t>—</a:t>
            </a:r>
            <a:r>
              <a:rPr lang="zh-TW" altLang="en-US" b="1" dirty="0">
                <a:solidFill>
                  <a:schemeClr val="tx1"/>
                </a:solidFill>
                <a:latin typeface="Times New Roman" panose="02020603050405020304" pitchFamily="18" charset="0"/>
                <a:ea typeface="+mn-ea"/>
                <a:cs typeface="Times New Roman" panose="02020603050405020304" pitchFamily="18" charset="0"/>
              </a:rPr>
              <a:t> </a:t>
            </a:r>
            <a:r>
              <a:rPr lang="en-US" altLang="zh-TW" b="1" dirty="0">
                <a:solidFill>
                  <a:schemeClr val="tx1"/>
                </a:solidFill>
                <a:latin typeface="Times New Roman" panose="02020603050405020304" pitchFamily="18" charset="0"/>
                <a:ea typeface="+mn-ea"/>
                <a:cs typeface="Times New Roman" panose="02020603050405020304" pitchFamily="18" charset="0"/>
              </a:rPr>
              <a:t>Bad Rabbit</a:t>
            </a:r>
            <a:endParaRPr lang="zh-TW" altLang="en-US" b="1" dirty="0">
              <a:solidFill>
                <a:schemeClr val="tx1"/>
              </a:solidFill>
              <a:latin typeface="Times New Roman" panose="02020603050405020304" pitchFamily="18" charset="0"/>
              <a:ea typeface="+mn-ea"/>
              <a:cs typeface="Times New Roman" panose="02020603050405020304" pitchFamily="18" charset="0"/>
            </a:endParaRPr>
          </a:p>
        </p:txBody>
      </p:sp>
      <p:sp>
        <p:nvSpPr>
          <p:cNvPr id="3" name="內容版面配置區 2"/>
          <p:cNvSpPr>
            <a:spLocks noGrp="1"/>
          </p:cNvSpPr>
          <p:nvPr>
            <p:ph idx="1"/>
          </p:nvPr>
        </p:nvSpPr>
        <p:spPr/>
        <p:txBody>
          <a:bodyPr/>
          <a:lstStyle/>
          <a:p>
            <a:r>
              <a:rPr lang="en-US" altLang="zh-TW" dirty="0">
                <a:solidFill>
                  <a:schemeClr val="tx1"/>
                </a:solidFill>
                <a:latin typeface="Times New Roman" panose="02020603050405020304" pitchFamily="18" charset="0"/>
                <a:cs typeface="Times New Roman" panose="02020603050405020304" pitchFamily="18" charset="0"/>
              </a:rPr>
              <a:t>Bad Rabbit</a:t>
            </a:r>
            <a:r>
              <a:rPr lang="zh-TW" altLang="en-US" dirty="0">
                <a:solidFill>
                  <a:schemeClr val="tx1"/>
                </a:solidFill>
                <a:latin typeface="Times New Roman" panose="02020603050405020304" pitchFamily="18" charset="0"/>
                <a:cs typeface="Times New Roman" panose="02020603050405020304" pitchFamily="18" charset="0"/>
              </a:rPr>
              <a:t>是出現在</a:t>
            </a:r>
            <a:r>
              <a:rPr lang="en-US" altLang="zh-TW" dirty="0">
                <a:solidFill>
                  <a:schemeClr val="tx1"/>
                </a:solidFill>
                <a:latin typeface="Times New Roman" panose="02020603050405020304" pitchFamily="18" charset="0"/>
                <a:cs typeface="Times New Roman" panose="02020603050405020304" pitchFamily="18" charset="0"/>
              </a:rPr>
              <a:t>2017</a:t>
            </a:r>
            <a:r>
              <a:rPr lang="zh-TW" altLang="en-US" dirty="0">
                <a:solidFill>
                  <a:schemeClr val="tx1"/>
                </a:solidFill>
                <a:latin typeface="Times New Roman" panose="02020603050405020304" pitchFamily="18" charset="0"/>
                <a:cs typeface="Times New Roman" panose="02020603050405020304" pitchFamily="18" charset="0"/>
              </a:rPr>
              <a:t>年的勒索病毒攻擊，透過路過式下載</a:t>
            </a:r>
            <a:r>
              <a:rPr lang="en-US" altLang="zh-TW" dirty="0">
                <a:solidFill>
                  <a:schemeClr val="tx1"/>
                </a:solidFill>
                <a:latin typeface="Times New Roman" panose="02020603050405020304" pitchFamily="18" charset="0"/>
                <a:cs typeface="Times New Roman" panose="02020603050405020304" pitchFamily="18" charset="0"/>
              </a:rPr>
              <a:t>(Drive by download)</a:t>
            </a:r>
            <a:r>
              <a:rPr lang="zh-TW" altLang="en-US" dirty="0">
                <a:solidFill>
                  <a:schemeClr val="tx1"/>
                </a:solidFill>
                <a:latin typeface="Times New Roman" panose="02020603050405020304" pitchFamily="18" charset="0"/>
                <a:cs typeface="Times New Roman" panose="02020603050405020304" pitchFamily="18" charset="0"/>
              </a:rPr>
              <a:t>攻擊散播。在路過式勒索病毒攻擊中，受害者瀏覽網站時並不知道該網站已被駭客接管。大多數的路過式攻擊都只需要使用者連上這樣被入侵的網頁 </a:t>
            </a:r>
            <a:r>
              <a:rPr lang="en-US" altLang="zh-TW" dirty="0">
                <a:solidFill>
                  <a:schemeClr val="tx1"/>
                </a:solidFill>
                <a:latin typeface="Times New Roman" panose="02020603050405020304" pitchFamily="18" charset="0"/>
                <a:cs typeface="Times New Roman" panose="02020603050405020304" pitchFamily="18" charset="0"/>
              </a:rPr>
              <a:t>– </a:t>
            </a:r>
            <a:r>
              <a:rPr lang="zh-TW" altLang="en-US" dirty="0">
                <a:solidFill>
                  <a:schemeClr val="tx1"/>
                </a:solidFill>
                <a:latin typeface="Times New Roman" panose="02020603050405020304" pitchFamily="18" charset="0"/>
                <a:cs typeface="Times New Roman" panose="02020603050405020304" pitchFamily="18" charset="0"/>
              </a:rPr>
              <a:t>讓人想起小紅帽和她的祖母</a:t>
            </a:r>
            <a:r>
              <a:rPr lang="en-US" altLang="zh-TW" dirty="0">
                <a:solidFill>
                  <a:schemeClr val="tx1"/>
                </a:solidFill>
                <a:latin typeface="Times New Roman" panose="02020603050405020304" pitchFamily="18" charset="0"/>
                <a:cs typeface="Times New Roman" panose="02020603050405020304" pitchFamily="18" charset="0"/>
              </a:rPr>
              <a:t>/</a:t>
            </a:r>
            <a:r>
              <a:rPr lang="zh-TW" altLang="en-US" dirty="0">
                <a:solidFill>
                  <a:schemeClr val="tx1"/>
                </a:solidFill>
                <a:latin typeface="Times New Roman" panose="02020603050405020304" pitchFamily="18" charset="0"/>
                <a:cs typeface="Times New Roman" panose="02020603050405020304" pitchFamily="18" charset="0"/>
              </a:rPr>
              <a:t>狼。</a:t>
            </a:r>
            <a:r>
              <a:rPr lang="en-US" altLang="zh-TW" dirty="0">
                <a:solidFill>
                  <a:schemeClr val="tx1"/>
                </a:solidFill>
                <a:latin typeface="Times New Roman" panose="02020603050405020304" pitchFamily="18" charset="0"/>
                <a:cs typeface="Times New Roman" panose="02020603050405020304" pitchFamily="18" charset="0"/>
              </a:rPr>
              <a:t>Bad Rabbit</a:t>
            </a:r>
            <a:r>
              <a:rPr lang="zh-TW" altLang="en-US" dirty="0">
                <a:solidFill>
                  <a:schemeClr val="tx1"/>
                </a:solidFill>
                <a:latin typeface="Times New Roman" panose="02020603050405020304" pitchFamily="18" charset="0"/>
                <a:cs typeface="Times New Roman" panose="02020603050405020304" pitchFamily="18" charset="0"/>
              </a:rPr>
              <a:t>會要求使用者執行假的</a:t>
            </a:r>
            <a:r>
              <a:rPr lang="en-US" altLang="zh-TW" dirty="0" err="1">
                <a:solidFill>
                  <a:schemeClr val="tx1"/>
                </a:solidFill>
                <a:latin typeface="Times New Roman" panose="02020603050405020304" pitchFamily="18" charset="0"/>
                <a:cs typeface="Times New Roman" panose="02020603050405020304" pitchFamily="18" charset="0"/>
              </a:rPr>
              <a:t>Adob</a:t>
            </a:r>
            <a:r>
              <a:rPr lang="en-US" altLang="zh-TW" dirty="0">
                <a:solidFill>
                  <a:schemeClr val="tx1"/>
                </a:solidFill>
                <a:latin typeface="Times New Roman" panose="02020603050405020304" pitchFamily="18" charset="0"/>
                <a:cs typeface="Times New Roman" panose="02020603050405020304" pitchFamily="18" charset="0"/>
              </a:rPr>
              <a:t>​​e Flash</a:t>
            </a:r>
            <a:r>
              <a:rPr lang="zh-TW" altLang="en-US" dirty="0">
                <a:solidFill>
                  <a:schemeClr val="tx1"/>
                </a:solidFill>
                <a:latin typeface="Times New Roman" panose="02020603050405020304" pitchFamily="18" charset="0"/>
                <a:cs typeface="Times New Roman" panose="02020603050405020304" pitchFamily="18" charset="0"/>
              </a:rPr>
              <a:t>安裝程式，導致電腦感染惡意軟體。</a:t>
            </a:r>
          </a:p>
          <a:p>
            <a:endParaRPr lang="zh-TW" altLang="en-US" dirty="0"/>
          </a:p>
        </p:txBody>
      </p:sp>
      <p:pic>
        <p:nvPicPr>
          <p:cNvPr id="4" name="Picture 2" descr="勒索病毒再現！「Bad Rabbit」威脅用戶付費解鎖檔案| ETtoday國際新聞| ETtoday新聞雲"/>
          <p:cNvPicPr>
            <a:picLocks noChangeAspect="1" noChangeArrowheads="1"/>
          </p:cNvPicPr>
          <p:nvPr/>
        </p:nvPicPr>
        <p:blipFill rotWithShape="1">
          <a:blip r:embed="rId2">
            <a:extLst>
              <a:ext uri="{28A0092B-C50C-407E-A947-70E740481C1C}">
                <a14:useLocalDpi xmlns:a14="http://schemas.microsoft.com/office/drawing/2010/main" val="0"/>
              </a:ext>
            </a:extLst>
          </a:blip>
          <a:srcRect t="14920" b="14006"/>
          <a:stretch/>
        </p:blipFill>
        <p:spPr bwMode="auto">
          <a:xfrm>
            <a:off x="2696545" y="3948417"/>
            <a:ext cx="7288588" cy="2909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10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latin typeface="+mn-ea"/>
                <a:ea typeface="+mn-ea"/>
              </a:rPr>
              <a:t>防範</a:t>
            </a:r>
            <a:endParaRPr lang="en-US" altLang="zh-TW" b="1" dirty="0">
              <a:latin typeface="+mn-ea"/>
              <a:ea typeface="+mn-ea"/>
            </a:endParaRP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27702623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可以防範的方式</a:t>
            </a:r>
          </a:p>
        </p:txBody>
      </p:sp>
      <p:sp>
        <p:nvSpPr>
          <p:cNvPr id="3" name="內容版面配置區 2"/>
          <p:cNvSpPr>
            <a:spLocks noGrp="1"/>
          </p:cNvSpPr>
          <p:nvPr>
            <p:ph idx="1"/>
          </p:nvPr>
        </p:nvSpPr>
        <p:spPr/>
        <p:txBody>
          <a:bodyPr/>
          <a:lstStyle/>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定期備份資料 </a:t>
            </a:r>
            <a:r>
              <a:rPr lang="en-US" altLang="zh-TW" dirty="0">
                <a:solidFill>
                  <a:schemeClr val="tx1"/>
                </a:solidFill>
                <a:latin typeface="Times New Roman" panose="02020603050405020304" pitchFamily="18" charset="0"/>
                <a:cs typeface="Times New Roman" panose="02020603050405020304" pitchFamily="18" charset="0"/>
              </a:rPr>
              <a:t>(</a:t>
            </a:r>
            <a:r>
              <a:rPr lang="zh-TW" altLang="en-US" dirty="0">
                <a:solidFill>
                  <a:schemeClr val="tx1"/>
                </a:solidFill>
                <a:latin typeface="Times New Roman" panose="02020603050405020304" pitchFamily="18" charset="0"/>
                <a:cs typeface="Times New Roman" panose="02020603050405020304" pitchFamily="18" charset="0"/>
              </a:rPr>
              <a:t>備份資料的儲存需分散風險</a:t>
            </a:r>
            <a:r>
              <a:rPr lang="en-US" altLang="zh-TW" dirty="0">
                <a:solidFill>
                  <a:schemeClr val="tx1"/>
                </a:solidFill>
                <a:latin typeface="Times New Roman" panose="02020603050405020304" pitchFamily="18" charset="0"/>
                <a:cs typeface="Times New Roman" panose="02020603050405020304" pitchFamily="18" charset="0"/>
              </a:rPr>
              <a:t>)</a:t>
            </a:r>
          </a:p>
          <a:p>
            <a:pPr>
              <a:buClr>
                <a:schemeClr val="tx1"/>
              </a:buClr>
            </a:pP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電郵或網路來源不明的連結、檔案</a:t>
            </a:r>
            <a:r>
              <a:rPr lang="zh-TW" altLang="en-US" b="1" dirty="0">
                <a:solidFill>
                  <a:schemeClr val="tx1"/>
                </a:solidFill>
                <a:latin typeface="Times New Roman" panose="02020603050405020304" pitchFamily="18" charset="0"/>
                <a:cs typeface="Times New Roman" panose="02020603050405020304" pitchFamily="18" charset="0"/>
              </a:rPr>
              <a:t>不予理會 </a:t>
            </a:r>
            <a:r>
              <a:rPr lang="en-US" altLang="zh-TW" dirty="0">
                <a:solidFill>
                  <a:schemeClr val="tx1"/>
                </a:solidFill>
                <a:latin typeface="Times New Roman" panose="02020603050405020304" pitchFamily="18" charset="0"/>
                <a:cs typeface="Times New Roman" panose="02020603050405020304" pitchFamily="18" charset="0"/>
              </a:rPr>
              <a:t>(ex:</a:t>
            </a:r>
            <a:r>
              <a:rPr lang="zh-TW" altLang="en-US" dirty="0">
                <a:solidFill>
                  <a:schemeClr val="tx1"/>
                </a:solidFill>
                <a:latin typeface="Times New Roman" panose="02020603050405020304" pitchFamily="18" charset="0"/>
                <a:cs typeface="Times New Roman" panose="02020603050405020304" pitchFamily="18" charset="0"/>
              </a:rPr>
              <a:t> 遊戲第三方軟體、釣魚郵件</a:t>
            </a:r>
            <a:r>
              <a:rPr lang="en-US" altLang="zh-TW" dirty="0">
                <a:solidFill>
                  <a:schemeClr val="tx1"/>
                </a:solidFill>
                <a:latin typeface="Times New Roman" panose="02020603050405020304" pitchFamily="18" charset="0"/>
                <a:cs typeface="Times New Roman" panose="02020603050405020304" pitchFamily="18" charset="0"/>
              </a:rPr>
              <a:t>)</a:t>
            </a:r>
          </a:p>
          <a:p>
            <a:pPr>
              <a:buClr>
                <a:schemeClr val="tx1"/>
              </a:buClr>
            </a:pP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定期更新防毒、掃毒軟體，還有記得開啟防火牆</a:t>
            </a: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了解勒索病毒的運作是如何影響，以便提前防範來降低中毒的可能</a:t>
            </a:r>
          </a:p>
          <a:p>
            <a:endParaRPr lang="zh-TW" altLang="en-US" dirty="0"/>
          </a:p>
        </p:txBody>
      </p:sp>
    </p:spTree>
    <p:extLst>
      <p:ext uri="{BB962C8B-B14F-4D97-AF65-F5344CB8AC3E}">
        <p14:creationId xmlns:p14="http://schemas.microsoft.com/office/powerpoint/2010/main" val="315191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b="1" dirty="0">
                <a:latin typeface="+mn-ea"/>
                <a:ea typeface="+mn-ea"/>
              </a:rPr>
              <a:t>衝擊</a:t>
            </a: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6072769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b="1" dirty="0">
                <a:latin typeface="+mn-ea"/>
                <a:ea typeface="+mn-ea"/>
              </a:rPr>
              <a:t>帶來的衝擊及影響</a:t>
            </a:r>
          </a:p>
        </p:txBody>
      </p:sp>
      <p:sp>
        <p:nvSpPr>
          <p:cNvPr id="3" name="內容版面配置區 2"/>
          <p:cNvSpPr>
            <a:spLocks noGrp="1"/>
          </p:cNvSpPr>
          <p:nvPr>
            <p:ph idx="1"/>
          </p:nvPr>
        </p:nvSpPr>
        <p:spPr/>
        <p:txBody>
          <a:bodyPr/>
          <a:lstStyle/>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可能停用</a:t>
            </a:r>
            <a:r>
              <a:rPr lang="en-US" altLang="zh-TW" dirty="0">
                <a:solidFill>
                  <a:schemeClr val="tx1"/>
                </a:solidFill>
                <a:latin typeface="Times New Roman" panose="02020603050405020304" pitchFamily="18" charset="0"/>
                <a:cs typeface="Times New Roman" panose="02020603050405020304" pitchFamily="18" charset="0"/>
              </a:rPr>
              <a:t>Windows</a:t>
            </a:r>
            <a:r>
              <a:rPr lang="zh-TW" altLang="en-US" dirty="0">
                <a:solidFill>
                  <a:schemeClr val="tx1"/>
                </a:solidFill>
                <a:latin typeface="Times New Roman" panose="02020603050405020304" pitchFamily="18" charset="0"/>
                <a:cs typeface="Times New Roman" panose="02020603050405020304" pitchFamily="18" charset="0"/>
              </a:rPr>
              <a:t>作業系統之系統還原的功能</a:t>
            </a: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造成企業、政府重大損失 </a:t>
            </a:r>
            <a:r>
              <a:rPr lang="en-US" altLang="zh-TW" dirty="0">
                <a:solidFill>
                  <a:schemeClr val="tx1"/>
                </a:solidFill>
                <a:latin typeface="Times New Roman" panose="02020603050405020304" pitchFamily="18" charset="0"/>
                <a:cs typeface="Times New Roman" panose="02020603050405020304" pitchFamily="18" charset="0"/>
              </a:rPr>
              <a:t>(</a:t>
            </a:r>
            <a:r>
              <a:rPr lang="zh-TW" altLang="en-US" dirty="0">
                <a:solidFill>
                  <a:schemeClr val="tx1"/>
                </a:solidFill>
                <a:latin typeface="Times New Roman" panose="02020603050405020304" pitchFamily="18" charset="0"/>
                <a:cs typeface="Times New Roman" panose="02020603050405020304" pitchFamily="18" charset="0"/>
              </a:rPr>
              <a:t>機密資料、財損等</a:t>
            </a:r>
            <a:r>
              <a:rPr lang="en-US" altLang="zh-TW" dirty="0">
                <a:solidFill>
                  <a:schemeClr val="tx1"/>
                </a:solidFill>
                <a:latin typeface="Times New Roman" panose="02020603050405020304" pitchFamily="18" charset="0"/>
                <a:cs typeface="Times New Roman" panose="02020603050405020304" pitchFamily="18" charset="0"/>
              </a:rPr>
              <a:t>)</a:t>
            </a:r>
          </a:p>
          <a:p>
            <a:pPr>
              <a:buClr>
                <a:schemeClr val="tx1"/>
              </a:buClr>
            </a:pP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許多重要的檔案因此救不回來、無法復原</a:t>
            </a: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endParaRPr lang="en-US" altLang="zh-TW" dirty="0">
              <a:solidFill>
                <a:schemeClr val="tx1"/>
              </a:solidFill>
              <a:latin typeface="Times New Roman" panose="02020603050405020304" pitchFamily="18" charset="0"/>
              <a:cs typeface="Times New Roman" panose="02020603050405020304" pitchFamily="18" charset="0"/>
            </a:endParaRPr>
          </a:p>
          <a:p>
            <a:pPr>
              <a:buClr>
                <a:schemeClr val="tx1"/>
              </a:buClr>
            </a:pPr>
            <a:r>
              <a:rPr lang="zh-TW" altLang="en-US" dirty="0">
                <a:solidFill>
                  <a:schemeClr val="tx1"/>
                </a:solidFill>
                <a:latin typeface="Times New Roman" panose="02020603050405020304" pitchFamily="18" charset="0"/>
                <a:cs typeface="Times New Roman" panose="02020603050405020304" pitchFamily="18" charset="0"/>
              </a:rPr>
              <a:t>勒索病毒也會不斷被改良進化，為了握有控制權 </a:t>
            </a:r>
            <a:r>
              <a:rPr lang="en-US" altLang="zh-TW" dirty="0">
                <a:solidFill>
                  <a:schemeClr val="tx1"/>
                </a:solidFill>
                <a:latin typeface="Times New Roman" panose="02020603050405020304" pitchFamily="18" charset="0"/>
                <a:cs typeface="Times New Roman" panose="02020603050405020304" pitchFamily="18" charset="0"/>
              </a:rPr>
              <a:t>(</a:t>
            </a:r>
            <a:r>
              <a:rPr lang="zh-TW" altLang="en-US" dirty="0">
                <a:solidFill>
                  <a:schemeClr val="tx1"/>
                </a:solidFill>
                <a:latin typeface="Times New Roman" panose="02020603050405020304" pitchFamily="18" charset="0"/>
                <a:cs typeface="Times New Roman" panose="02020603050405020304" pitchFamily="18" charset="0"/>
              </a:rPr>
              <a:t>重要資料、文件等有價值的東西</a:t>
            </a:r>
            <a:r>
              <a:rPr lang="en-US" altLang="zh-TW" dirty="0">
                <a:solidFill>
                  <a:schemeClr val="tx1"/>
                </a:solidFill>
                <a:latin typeface="Times New Roman" panose="02020603050405020304" pitchFamily="18" charset="0"/>
                <a:cs typeface="Times New Roman" panose="02020603050405020304" pitchFamily="18" charset="0"/>
              </a:rPr>
              <a:t>)</a:t>
            </a:r>
          </a:p>
          <a:p>
            <a:endParaRPr lang="zh-TW" altLang="en-US" dirty="0"/>
          </a:p>
        </p:txBody>
      </p:sp>
    </p:spTree>
    <p:extLst>
      <p:ext uri="{BB962C8B-B14F-4D97-AF65-F5344CB8AC3E}">
        <p14:creationId xmlns:p14="http://schemas.microsoft.com/office/powerpoint/2010/main" val="2300824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90000"/>
        </a:solid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CN" dirty="0">
                <a:solidFill>
                  <a:schemeClr val="tx1">
                    <a:lumMod val="85000"/>
                    <a:lumOff val="15000"/>
                  </a:schemeClr>
                </a:solidFill>
                <a:latin typeface="Times New Roman" panose="02020603050405020304" pitchFamily="18" charset="0"/>
                <a:ea typeface="方正正纤黑简体" panose="02000000000000000000" pitchFamily="2" charset="-122"/>
                <a:cs typeface="Times New Roman" panose="02020603050405020304" pitchFamily="18" charset="0"/>
              </a:rPr>
              <a:t>Thanks</a:t>
            </a:r>
            <a:endParaRPr lang="zh-TW" altLang="en-US" b="1" dirty="0">
              <a:latin typeface="Times New Roman" panose="02020603050405020304" pitchFamily="18" charset="0"/>
              <a:ea typeface="+mn-ea"/>
              <a:cs typeface="Times New Roman" panose="02020603050405020304" pitchFamily="18" charset="0"/>
            </a:endParaRPr>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5788646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徽章</Template>
  <TotalTime>139</TotalTime>
  <Words>844</Words>
  <Application>Microsoft Office PowerPoint</Application>
  <PresentationFormat>寬螢幕</PresentationFormat>
  <Paragraphs>57</Paragraphs>
  <Slides>18</Slides>
  <Notes>0</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Badge</vt:lpstr>
      <vt:lpstr>勒索病毒</vt:lpstr>
      <vt:lpstr>目錄</vt:lpstr>
      <vt:lpstr>介紹</vt:lpstr>
      <vt:lpstr>何謂勒索病毒？ </vt:lpstr>
      <vt:lpstr>目標</vt:lpstr>
      <vt:lpstr>勒索病毒專門以重要資訊為目標 </vt:lpstr>
      <vt:lpstr>網路釣魚郵件經常暗藏勒索病毒</vt:lpstr>
      <vt:lpstr>勒索贖金交付</vt:lpstr>
      <vt:lpstr>類型</vt:lpstr>
      <vt:lpstr>勒索病毒的類型</vt:lpstr>
      <vt:lpstr>勒索病毒 — Locky</vt:lpstr>
      <vt:lpstr>勒索病毒 — WannaCry</vt:lpstr>
      <vt:lpstr>勒索病毒 — Bad Rabbit</vt:lpstr>
      <vt:lpstr>防範</vt:lpstr>
      <vt:lpstr>可以防範的方式</vt:lpstr>
      <vt:lpstr>衝擊</vt:lpstr>
      <vt:lpstr>帶來的衝擊及影響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勒索病毒</dc:title>
  <dc:creator>郭宇倫</dc:creator>
  <cp:lastModifiedBy>建篁 呂</cp:lastModifiedBy>
  <cp:revision>12</cp:revision>
  <dcterms:created xsi:type="dcterms:W3CDTF">2023-03-12T11:12:29Z</dcterms:created>
  <dcterms:modified xsi:type="dcterms:W3CDTF">2023-05-01T14:10:28Z</dcterms:modified>
</cp:coreProperties>
</file>